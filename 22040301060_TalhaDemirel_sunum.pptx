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2AA59-0916-48C3-BA2F-52EDE3BDF17A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6DE71C-09C8-444E-B1D8-725CB99D0FB5}">
      <dgm:prSet/>
      <dgm:spPr/>
      <dgm:t>
        <a:bodyPr/>
        <a:lstStyle/>
        <a:p>
          <a:r>
            <a:rPr lang="tr-TR" dirty="0"/>
            <a:t>Online alışveriş siteleri genellikle sadece metin tabanlı arama seçeneği sunar.</a:t>
          </a:r>
          <a:endParaRPr lang="en-US" dirty="0"/>
        </a:p>
      </dgm:t>
    </dgm:pt>
    <dgm:pt modelId="{0FD3815E-9E75-42ED-97C2-AB1B2E08951A}" type="parTrans" cxnId="{48C69DB3-98D1-4F85-B88D-B20D7A498271}">
      <dgm:prSet/>
      <dgm:spPr/>
      <dgm:t>
        <a:bodyPr/>
        <a:lstStyle/>
        <a:p>
          <a:endParaRPr lang="en-US"/>
        </a:p>
      </dgm:t>
    </dgm:pt>
    <dgm:pt modelId="{18E0CFC5-956B-46D9-AF96-72072ED4A1D4}" type="sibTrans" cxnId="{48C69DB3-98D1-4F85-B88D-B20D7A498271}">
      <dgm:prSet/>
      <dgm:spPr/>
      <dgm:t>
        <a:bodyPr/>
        <a:lstStyle/>
        <a:p>
          <a:endParaRPr lang="en-US"/>
        </a:p>
      </dgm:t>
    </dgm:pt>
    <dgm:pt modelId="{62D26282-1DFC-49F9-BF25-EEAF8321A282}">
      <dgm:prSet/>
      <dgm:spPr/>
      <dgm:t>
        <a:bodyPr/>
        <a:lstStyle/>
        <a:p>
          <a:r>
            <a:rPr lang="tr-TR"/>
            <a:t>Kullanıcılar kombin oluştururken destek alamamaktadır. </a:t>
          </a:r>
          <a:endParaRPr lang="en-US"/>
        </a:p>
      </dgm:t>
    </dgm:pt>
    <dgm:pt modelId="{A18F2E80-C4C0-4BDF-8616-FEB121DC1B9E}" type="parTrans" cxnId="{235D116C-8317-4047-B211-8D2B22585EE7}">
      <dgm:prSet/>
      <dgm:spPr/>
      <dgm:t>
        <a:bodyPr/>
        <a:lstStyle/>
        <a:p>
          <a:endParaRPr lang="en-US"/>
        </a:p>
      </dgm:t>
    </dgm:pt>
    <dgm:pt modelId="{E0B4C008-A7D4-427A-8914-5E9450D1A1A7}" type="sibTrans" cxnId="{235D116C-8317-4047-B211-8D2B22585EE7}">
      <dgm:prSet/>
      <dgm:spPr/>
      <dgm:t>
        <a:bodyPr/>
        <a:lstStyle/>
        <a:p>
          <a:endParaRPr lang="en-US"/>
        </a:p>
      </dgm:t>
    </dgm:pt>
    <dgm:pt modelId="{ED644F22-F377-402E-84EF-A080710C25BD}">
      <dgm:prSet/>
      <dgm:spPr/>
      <dgm:t>
        <a:bodyPr/>
        <a:lstStyle/>
        <a:p>
          <a:r>
            <a:rPr lang="tr-TR"/>
            <a:t>Geleneksel filtreleme yöntemleri yetersiz kalmaktadır.</a:t>
          </a:r>
          <a:endParaRPr lang="en-US"/>
        </a:p>
      </dgm:t>
    </dgm:pt>
    <dgm:pt modelId="{8A2EE72A-C849-45A2-A05A-668DC374969B}" type="parTrans" cxnId="{472D5940-9DD3-49E0-97A4-0FEC963BFC2F}">
      <dgm:prSet/>
      <dgm:spPr/>
      <dgm:t>
        <a:bodyPr/>
        <a:lstStyle/>
        <a:p>
          <a:endParaRPr lang="en-US"/>
        </a:p>
      </dgm:t>
    </dgm:pt>
    <dgm:pt modelId="{601818EE-08A3-4CCC-B6B3-28BE1524D828}" type="sibTrans" cxnId="{472D5940-9DD3-49E0-97A4-0FEC963BFC2F}">
      <dgm:prSet/>
      <dgm:spPr/>
      <dgm:t>
        <a:bodyPr/>
        <a:lstStyle/>
        <a:p>
          <a:endParaRPr lang="en-US"/>
        </a:p>
      </dgm:t>
    </dgm:pt>
    <dgm:pt modelId="{B8EA99D3-5A46-46A9-9685-D571194BEBC3}" type="pres">
      <dgm:prSet presAssocID="{3EC2AA59-0916-48C3-BA2F-52EDE3BDF1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46A822-C833-4E8F-8E95-31F2BCCE11A6}" type="pres">
      <dgm:prSet presAssocID="{6C6DE71C-09C8-444E-B1D8-725CB99D0FB5}" presName="hierRoot1" presStyleCnt="0"/>
      <dgm:spPr/>
    </dgm:pt>
    <dgm:pt modelId="{56F5A9C2-0FE4-4D38-A556-4090517F2083}" type="pres">
      <dgm:prSet presAssocID="{6C6DE71C-09C8-444E-B1D8-725CB99D0FB5}" presName="composite" presStyleCnt="0"/>
      <dgm:spPr/>
    </dgm:pt>
    <dgm:pt modelId="{9ED1D628-84D1-4AC0-91DB-954D553CC6B0}" type="pres">
      <dgm:prSet presAssocID="{6C6DE71C-09C8-444E-B1D8-725CB99D0FB5}" presName="background" presStyleLbl="node0" presStyleIdx="0" presStyleCnt="3"/>
      <dgm:spPr/>
    </dgm:pt>
    <dgm:pt modelId="{4C2B0F04-95C3-44D1-BB0B-67854B481F7C}" type="pres">
      <dgm:prSet presAssocID="{6C6DE71C-09C8-444E-B1D8-725CB99D0FB5}" presName="text" presStyleLbl="fgAcc0" presStyleIdx="0" presStyleCnt="3">
        <dgm:presLayoutVars>
          <dgm:chPref val="3"/>
        </dgm:presLayoutVars>
      </dgm:prSet>
      <dgm:spPr/>
    </dgm:pt>
    <dgm:pt modelId="{1D1276CC-5FC3-4F2C-BA5E-21FF79D854CB}" type="pres">
      <dgm:prSet presAssocID="{6C6DE71C-09C8-444E-B1D8-725CB99D0FB5}" presName="hierChild2" presStyleCnt="0"/>
      <dgm:spPr/>
    </dgm:pt>
    <dgm:pt modelId="{161F0E38-733C-4FB9-BC0F-E32A77DBDDB0}" type="pres">
      <dgm:prSet presAssocID="{62D26282-1DFC-49F9-BF25-EEAF8321A282}" presName="hierRoot1" presStyleCnt="0"/>
      <dgm:spPr/>
    </dgm:pt>
    <dgm:pt modelId="{97FF0570-8FB7-449B-8CD4-EC629942784C}" type="pres">
      <dgm:prSet presAssocID="{62D26282-1DFC-49F9-BF25-EEAF8321A282}" presName="composite" presStyleCnt="0"/>
      <dgm:spPr/>
    </dgm:pt>
    <dgm:pt modelId="{1F374982-AF76-4518-9749-C175EB95A10D}" type="pres">
      <dgm:prSet presAssocID="{62D26282-1DFC-49F9-BF25-EEAF8321A282}" presName="background" presStyleLbl="node0" presStyleIdx="1" presStyleCnt="3"/>
      <dgm:spPr/>
    </dgm:pt>
    <dgm:pt modelId="{5C32BA17-8350-40BD-BF99-46F99B85420D}" type="pres">
      <dgm:prSet presAssocID="{62D26282-1DFC-49F9-BF25-EEAF8321A282}" presName="text" presStyleLbl="fgAcc0" presStyleIdx="1" presStyleCnt="3">
        <dgm:presLayoutVars>
          <dgm:chPref val="3"/>
        </dgm:presLayoutVars>
      </dgm:prSet>
      <dgm:spPr/>
    </dgm:pt>
    <dgm:pt modelId="{C213212F-283D-42D9-ACE3-5D7873E79AEA}" type="pres">
      <dgm:prSet presAssocID="{62D26282-1DFC-49F9-BF25-EEAF8321A282}" presName="hierChild2" presStyleCnt="0"/>
      <dgm:spPr/>
    </dgm:pt>
    <dgm:pt modelId="{63E20511-16EC-4D5D-990F-83ABCB06BAA2}" type="pres">
      <dgm:prSet presAssocID="{ED644F22-F377-402E-84EF-A080710C25BD}" presName="hierRoot1" presStyleCnt="0"/>
      <dgm:spPr/>
    </dgm:pt>
    <dgm:pt modelId="{663BFB25-F876-4BB9-BC3A-13B0EE27525B}" type="pres">
      <dgm:prSet presAssocID="{ED644F22-F377-402E-84EF-A080710C25BD}" presName="composite" presStyleCnt="0"/>
      <dgm:spPr/>
    </dgm:pt>
    <dgm:pt modelId="{65B60D08-F1F8-466D-985E-B9DA42722318}" type="pres">
      <dgm:prSet presAssocID="{ED644F22-F377-402E-84EF-A080710C25BD}" presName="background" presStyleLbl="node0" presStyleIdx="2" presStyleCnt="3"/>
      <dgm:spPr/>
    </dgm:pt>
    <dgm:pt modelId="{8D78C34B-4A36-4C76-B64B-36B27F701A00}" type="pres">
      <dgm:prSet presAssocID="{ED644F22-F377-402E-84EF-A080710C25BD}" presName="text" presStyleLbl="fgAcc0" presStyleIdx="2" presStyleCnt="3">
        <dgm:presLayoutVars>
          <dgm:chPref val="3"/>
        </dgm:presLayoutVars>
      </dgm:prSet>
      <dgm:spPr/>
    </dgm:pt>
    <dgm:pt modelId="{B5DA7E31-30CA-45D7-B55D-3F3D8C96F4B0}" type="pres">
      <dgm:prSet presAssocID="{ED644F22-F377-402E-84EF-A080710C25BD}" presName="hierChild2" presStyleCnt="0"/>
      <dgm:spPr/>
    </dgm:pt>
  </dgm:ptLst>
  <dgm:cxnLst>
    <dgm:cxn modelId="{472D5940-9DD3-49E0-97A4-0FEC963BFC2F}" srcId="{3EC2AA59-0916-48C3-BA2F-52EDE3BDF17A}" destId="{ED644F22-F377-402E-84EF-A080710C25BD}" srcOrd="2" destOrd="0" parTransId="{8A2EE72A-C849-45A2-A05A-668DC374969B}" sibTransId="{601818EE-08A3-4CCC-B6B3-28BE1524D828}"/>
    <dgm:cxn modelId="{FE2BF464-C124-4D0A-96F9-9D54B0FEFD2C}" type="presOf" srcId="{ED644F22-F377-402E-84EF-A080710C25BD}" destId="{8D78C34B-4A36-4C76-B64B-36B27F701A00}" srcOrd="0" destOrd="0" presId="urn:microsoft.com/office/officeart/2005/8/layout/hierarchy1"/>
    <dgm:cxn modelId="{235D116C-8317-4047-B211-8D2B22585EE7}" srcId="{3EC2AA59-0916-48C3-BA2F-52EDE3BDF17A}" destId="{62D26282-1DFC-49F9-BF25-EEAF8321A282}" srcOrd="1" destOrd="0" parTransId="{A18F2E80-C4C0-4BDF-8616-FEB121DC1B9E}" sibTransId="{E0B4C008-A7D4-427A-8914-5E9450D1A1A7}"/>
    <dgm:cxn modelId="{48C69DB3-98D1-4F85-B88D-B20D7A498271}" srcId="{3EC2AA59-0916-48C3-BA2F-52EDE3BDF17A}" destId="{6C6DE71C-09C8-444E-B1D8-725CB99D0FB5}" srcOrd="0" destOrd="0" parTransId="{0FD3815E-9E75-42ED-97C2-AB1B2E08951A}" sibTransId="{18E0CFC5-956B-46D9-AF96-72072ED4A1D4}"/>
    <dgm:cxn modelId="{A1B99EB9-82F5-48F9-ACD9-4055FCAA6190}" type="presOf" srcId="{6C6DE71C-09C8-444E-B1D8-725CB99D0FB5}" destId="{4C2B0F04-95C3-44D1-BB0B-67854B481F7C}" srcOrd="0" destOrd="0" presId="urn:microsoft.com/office/officeart/2005/8/layout/hierarchy1"/>
    <dgm:cxn modelId="{441B55E6-714F-49EA-925B-99C6B19A5054}" type="presOf" srcId="{3EC2AA59-0916-48C3-BA2F-52EDE3BDF17A}" destId="{B8EA99D3-5A46-46A9-9685-D571194BEBC3}" srcOrd="0" destOrd="0" presId="urn:microsoft.com/office/officeart/2005/8/layout/hierarchy1"/>
    <dgm:cxn modelId="{C23AB6F9-AC42-43E8-B54B-E273C8B6FDAB}" type="presOf" srcId="{62D26282-1DFC-49F9-BF25-EEAF8321A282}" destId="{5C32BA17-8350-40BD-BF99-46F99B85420D}" srcOrd="0" destOrd="0" presId="urn:microsoft.com/office/officeart/2005/8/layout/hierarchy1"/>
    <dgm:cxn modelId="{2F7BDE51-CF21-4B22-A497-D62873B2C74C}" type="presParOf" srcId="{B8EA99D3-5A46-46A9-9685-D571194BEBC3}" destId="{3346A822-C833-4E8F-8E95-31F2BCCE11A6}" srcOrd="0" destOrd="0" presId="urn:microsoft.com/office/officeart/2005/8/layout/hierarchy1"/>
    <dgm:cxn modelId="{2D6920B6-DCB5-42F6-A4B0-BD92D56CC7B8}" type="presParOf" srcId="{3346A822-C833-4E8F-8E95-31F2BCCE11A6}" destId="{56F5A9C2-0FE4-4D38-A556-4090517F2083}" srcOrd="0" destOrd="0" presId="urn:microsoft.com/office/officeart/2005/8/layout/hierarchy1"/>
    <dgm:cxn modelId="{7A53FAD5-E534-4E3E-BE35-E99648BB09E6}" type="presParOf" srcId="{56F5A9C2-0FE4-4D38-A556-4090517F2083}" destId="{9ED1D628-84D1-4AC0-91DB-954D553CC6B0}" srcOrd="0" destOrd="0" presId="urn:microsoft.com/office/officeart/2005/8/layout/hierarchy1"/>
    <dgm:cxn modelId="{EF23A93A-84B9-4C5D-B3AB-B9237CE41624}" type="presParOf" srcId="{56F5A9C2-0FE4-4D38-A556-4090517F2083}" destId="{4C2B0F04-95C3-44D1-BB0B-67854B481F7C}" srcOrd="1" destOrd="0" presId="urn:microsoft.com/office/officeart/2005/8/layout/hierarchy1"/>
    <dgm:cxn modelId="{AD3E74DA-8056-4DD7-955B-E362642B91E1}" type="presParOf" srcId="{3346A822-C833-4E8F-8E95-31F2BCCE11A6}" destId="{1D1276CC-5FC3-4F2C-BA5E-21FF79D854CB}" srcOrd="1" destOrd="0" presId="urn:microsoft.com/office/officeart/2005/8/layout/hierarchy1"/>
    <dgm:cxn modelId="{AFDEFAFD-63E0-4AFA-B212-1E3C957F71C4}" type="presParOf" srcId="{B8EA99D3-5A46-46A9-9685-D571194BEBC3}" destId="{161F0E38-733C-4FB9-BC0F-E32A77DBDDB0}" srcOrd="1" destOrd="0" presId="urn:microsoft.com/office/officeart/2005/8/layout/hierarchy1"/>
    <dgm:cxn modelId="{EEB63300-173E-459D-A6DE-07DFFB82096F}" type="presParOf" srcId="{161F0E38-733C-4FB9-BC0F-E32A77DBDDB0}" destId="{97FF0570-8FB7-449B-8CD4-EC629942784C}" srcOrd="0" destOrd="0" presId="urn:microsoft.com/office/officeart/2005/8/layout/hierarchy1"/>
    <dgm:cxn modelId="{8EB64107-C7FC-4059-A988-2BE1954EB155}" type="presParOf" srcId="{97FF0570-8FB7-449B-8CD4-EC629942784C}" destId="{1F374982-AF76-4518-9749-C175EB95A10D}" srcOrd="0" destOrd="0" presId="urn:microsoft.com/office/officeart/2005/8/layout/hierarchy1"/>
    <dgm:cxn modelId="{684C54A1-0C76-4713-B538-B9B8A51C39CE}" type="presParOf" srcId="{97FF0570-8FB7-449B-8CD4-EC629942784C}" destId="{5C32BA17-8350-40BD-BF99-46F99B85420D}" srcOrd="1" destOrd="0" presId="urn:microsoft.com/office/officeart/2005/8/layout/hierarchy1"/>
    <dgm:cxn modelId="{7F873735-413A-464B-8D7D-BC3D7720BCA4}" type="presParOf" srcId="{161F0E38-733C-4FB9-BC0F-E32A77DBDDB0}" destId="{C213212F-283D-42D9-ACE3-5D7873E79AEA}" srcOrd="1" destOrd="0" presId="urn:microsoft.com/office/officeart/2005/8/layout/hierarchy1"/>
    <dgm:cxn modelId="{C7C7F326-6202-4996-8B32-2C9CA63E4771}" type="presParOf" srcId="{B8EA99D3-5A46-46A9-9685-D571194BEBC3}" destId="{63E20511-16EC-4D5D-990F-83ABCB06BAA2}" srcOrd="2" destOrd="0" presId="urn:microsoft.com/office/officeart/2005/8/layout/hierarchy1"/>
    <dgm:cxn modelId="{A4AFA00C-FCC7-4EB9-8C9D-A1592409E21E}" type="presParOf" srcId="{63E20511-16EC-4D5D-990F-83ABCB06BAA2}" destId="{663BFB25-F876-4BB9-BC3A-13B0EE27525B}" srcOrd="0" destOrd="0" presId="urn:microsoft.com/office/officeart/2005/8/layout/hierarchy1"/>
    <dgm:cxn modelId="{4434634D-0E84-487F-89A1-28FA606E757A}" type="presParOf" srcId="{663BFB25-F876-4BB9-BC3A-13B0EE27525B}" destId="{65B60D08-F1F8-466D-985E-B9DA42722318}" srcOrd="0" destOrd="0" presId="urn:microsoft.com/office/officeart/2005/8/layout/hierarchy1"/>
    <dgm:cxn modelId="{B5848FC5-552A-414C-A899-43DDBFCDD381}" type="presParOf" srcId="{663BFB25-F876-4BB9-BC3A-13B0EE27525B}" destId="{8D78C34B-4A36-4C76-B64B-36B27F701A00}" srcOrd="1" destOrd="0" presId="urn:microsoft.com/office/officeart/2005/8/layout/hierarchy1"/>
    <dgm:cxn modelId="{46F25726-E164-4661-A276-C8ADCD7866D2}" type="presParOf" srcId="{63E20511-16EC-4D5D-990F-83ABCB06BAA2}" destId="{B5DA7E31-30CA-45D7-B55D-3F3D8C96F4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20802A-DA22-491F-AEC1-52DED807A1E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3A13B10-2135-4596-AB28-F669DF979655}">
      <dgm:prSet/>
      <dgm:spPr/>
      <dgm:t>
        <a:bodyPr/>
        <a:lstStyle/>
        <a:p>
          <a:pPr>
            <a:defRPr cap="all"/>
          </a:pPr>
          <a:r>
            <a:rPr lang="tr-TR"/>
            <a:t>Görselden benzer ürün bulmak</a:t>
          </a:r>
          <a:endParaRPr lang="en-US"/>
        </a:p>
      </dgm:t>
    </dgm:pt>
    <dgm:pt modelId="{9B5AB4A6-41EC-48CD-9B92-A59C89723D5C}" type="parTrans" cxnId="{5B04C2AF-F126-44A5-BACC-2A6207F3547A}">
      <dgm:prSet/>
      <dgm:spPr/>
      <dgm:t>
        <a:bodyPr/>
        <a:lstStyle/>
        <a:p>
          <a:endParaRPr lang="en-US"/>
        </a:p>
      </dgm:t>
    </dgm:pt>
    <dgm:pt modelId="{9899F400-F8F6-48C4-8C3F-07C68BB8A566}" type="sibTrans" cxnId="{5B04C2AF-F126-44A5-BACC-2A6207F3547A}">
      <dgm:prSet/>
      <dgm:spPr/>
      <dgm:t>
        <a:bodyPr/>
        <a:lstStyle/>
        <a:p>
          <a:endParaRPr lang="en-US"/>
        </a:p>
      </dgm:t>
    </dgm:pt>
    <dgm:pt modelId="{52F031AF-D513-42E2-81A2-B17324A71C76}">
      <dgm:prSet/>
      <dgm:spPr/>
      <dgm:t>
        <a:bodyPr/>
        <a:lstStyle/>
        <a:p>
          <a:pPr>
            <a:defRPr cap="all"/>
          </a:pPr>
          <a:r>
            <a:rPr lang="tr-TR"/>
            <a:t>Kombin önerileri sunmak</a:t>
          </a:r>
          <a:endParaRPr lang="en-US"/>
        </a:p>
      </dgm:t>
    </dgm:pt>
    <dgm:pt modelId="{1102B53C-C73D-4575-B15F-77579B34CBA9}" type="parTrans" cxnId="{2B9F956E-EB74-41CF-BC3D-C337F1BF8CBF}">
      <dgm:prSet/>
      <dgm:spPr/>
      <dgm:t>
        <a:bodyPr/>
        <a:lstStyle/>
        <a:p>
          <a:endParaRPr lang="en-US"/>
        </a:p>
      </dgm:t>
    </dgm:pt>
    <dgm:pt modelId="{CD0B42FF-0E6D-481C-84B1-FD882E0D90A2}" type="sibTrans" cxnId="{2B9F956E-EB74-41CF-BC3D-C337F1BF8CBF}">
      <dgm:prSet/>
      <dgm:spPr/>
      <dgm:t>
        <a:bodyPr/>
        <a:lstStyle/>
        <a:p>
          <a:endParaRPr lang="en-US"/>
        </a:p>
      </dgm:t>
    </dgm:pt>
    <dgm:pt modelId="{77E54DD3-4997-4FCC-AF77-B2A7627C4752}">
      <dgm:prSet/>
      <dgm:spPr/>
      <dgm:t>
        <a:bodyPr/>
        <a:lstStyle/>
        <a:p>
          <a:pPr>
            <a:defRPr cap="all"/>
          </a:pPr>
          <a:r>
            <a:rPr lang="tr-TR"/>
            <a:t>Kullanıcı deneyimini geliştirmek</a:t>
          </a:r>
          <a:endParaRPr lang="en-US"/>
        </a:p>
      </dgm:t>
    </dgm:pt>
    <dgm:pt modelId="{9E17CAE1-C72D-4DCE-BF29-63B19FE6405A}" type="parTrans" cxnId="{777DD7ED-3EFF-4F9E-8B2A-91A948230978}">
      <dgm:prSet/>
      <dgm:spPr/>
      <dgm:t>
        <a:bodyPr/>
        <a:lstStyle/>
        <a:p>
          <a:endParaRPr lang="en-US"/>
        </a:p>
      </dgm:t>
    </dgm:pt>
    <dgm:pt modelId="{631955F9-0B87-40FB-8EA9-5EE1276AD295}" type="sibTrans" cxnId="{777DD7ED-3EFF-4F9E-8B2A-91A948230978}">
      <dgm:prSet/>
      <dgm:spPr/>
      <dgm:t>
        <a:bodyPr/>
        <a:lstStyle/>
        <a:p>
          <a:endParaRPr lang="en-US"/>
        </a:p>
      </dgm:t>
    </dgm:pt>
    <dgm:pt modelId="{C1CE4027-8EFC-4046-A20A-40D9FC1BF26D}">
      <dgm:prSet/>
      <dgm:spPr/>
      <dgm:t>
        <a:bodyPr/>
        <a:lstStyle/>
        <a:p>
          <a:pPr>
            <a:defRPr cap="all"/>
          </a:pPr>
          <a:r>
            <a:rPr lang="tr-TR"/>
            <a:t>Akıllı moda öneri sistemi geliştirmek</a:t>
          </a:r>
          <a:endParaRPr lang="en-US"/>
        </a:p>
      </dgm:t>
    </dgm:pt>
    <dgm:pt modelId="{40165304-C65B-4E93-8E2B-98C49A490D3C}" type="parTrans" cxnId="{3ECB98DC-ABB7-4B65-88FA-6673287CA765}">
      <dgm:prSet/>
      <dgm:spPr/>
      <dgm:t>
        <a:bodyPr/>
        <a:lstStyle/>
        <a:p>
          <a:endParaRPr lang="en-US"/>
        </a:p>
      </dgm:t>
    </dgm:pt>
    <dgm:pt modelId="{FBB535DE-B8A3-4964-85DB-A8C612416F15}" type="sibTrans" cxnId="{3ECB98DC-ABB7-4B65-88FA-6673287CA765}">
      <dgm:prSet/>
      <dgm:spPr/>
      <dgm:t>
        <a:bodyPr/>
        <a:lstStyle/>
        <a:p>
          <a:endParaRPr lang="en-US"/>
        </a:p>
      </dgm:t>
    </dgm:pt>
    <dgm:pt modelId="{CEFC9BED-2E0F-45A1-A34B-6F708FA77F65}" type="pres">
      <dgm:prSet presAssocID="{F420802A-DA22-491F-AEC1-52DED807A1E2}" presName="root" presStyleCnt="0">
        <dgm:presLayoutVars>
          <dgm:dir/>
          <dgm:resizeHandles val="exact"/>
        </dgm:presLayoutVars>
      </dgm:prSet>
      <dgm:spPr/>
    </dgm:pt>
    <dgm:pt modelId="{8450B8BD-156C-429F-958B-AE65FFAE7DAB}" type="pres">
      <dgm:prSet presAssocID="{43A13B10-2135-4596-AB28-F669DF979655}" presName="compNode" presStyleCnt="0"/>
      <dgm:spPr/>
    </dgm:pt>
    <dgm:pt modelId="{F4ADE71F-C35C-4407-A36D-E15E2FD39CF2}" type="pres">
      <dgm:prSet presAssocID="{43A13B10-2135-4596-AB28-F669DF979655}" presName="iconBgRect" presStyleLbl="bgShp" presStyleIdx="0" presStyleCnt="4"/>
      <dgm:spPr/>
    </dgm:pt>
    <dgm:pt modelId="{54F5449E-F4B9-4543-A104-1EFC74743668}" type="pres">
      <dgm:prSet presAssocID="{43A13B10-2135-4596-AB28-F669DF97965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9B35114-9F62-4911-80A7-1FFF2D02A6F8}" type="pres">
      <dgm:prSet presAssocID="{43A13B10-2135-4596-AB28-F669DF979655}" presName="spaceRect" presStyleCnt="0"/>
      <dgm:spPr/>
    </dgm:pt>
    <dgm:pt modelId="{EDE502D7-5CCB-4BC1-9702-866ED78A47C4}" type="pres">
      <dgm:prSet presAssocID="{43A13B10-2135-4596-AB28-F669DF979655}" presName="textRect" presStyleLbl="revTx" presStyleIdx="0" presStyleCnt="4">
        <dgm:presLayoutVars>
          <dgm:chMax val="1"/>
          <dgm:chPref val="1"/>
        </dgm:presLayoutVars>
      </dgm:prSet>
      <dgm:spPr/>
    </dgm:pt>
    <dgm:pt modelId="{653721BD-7E9D-4E29-B428-9032F7AB2D75}" type="pres">
      <dgm:prSet presAssocID="{9899F400-F8F6-48C4-8C3F-07C68BB8A566}" presName="sibTrans" presStyleCnt="0"/>
      <dgm:spPr/>
    </dgm:pt>
    <dgm:pt modelId="{98B81AF7-2DF1-4A30-B582-365C5E475781}" type="pres">
      <dgm:prSet presAssocID="{52F031AF-D513-42E2-81A2-B17324A71C76}" presName="compNode" presStyleCnt="0"/>
      <dgm:spPr/>
    </dgm:pt>
    <dgm:pt modelId="{A7FFAEE1-BE39-42DB-9ABD-D0FE1DDEF243}" type="pres">
      <dgm:prSet presAssocID="{52F031AF-D513-42E2-81A2-B17324A71C76}" presName="iconBgRect" presStyleLbl="bgShp" presStyleIdx="1" presStyleCnt="4"/>
      <dgm:spPr/>
    </dgm:pt>
    <dgm:pt modelId="{B54BC863-3E3C-4DDA-9560-E51C2137791F}" type="pres">
      <dgm:prSet presAssocID="{52F031AF-D513-42E2-81A2-B17324A71C7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pul"/>
        </a:ext>
      </dgm:extLst>
    </dgm:pt>
    <dgm:pt modelId="{319E8FE4-0277-4A22-AC39-148CA6BA7B92}" type="pres">
      <dgm:prSet presAssocID="{52F031AF-D513-42E2-81A2-B17324A71C76}" presName="spaceRect" presStyleCnt="0"/>
      <dgm:spPr/>
    </dgm:pt>
    <dgm:pt modelId="{7D50A3A1-0A44-4F62-87A3-4AC3D25E8032}" type="pres">
      <dgm:prSet presAssocID="{52F031AF-D513-42E2-81A2-B17324A71C76}" presName="textRect" presStyleLbl="revTx" presStyleIdx="1" presStyleCnt="4">
        <dgm:presLayoutVars>
          <dgm:chMax val="1"/>
          <dgm:chPref val="1"/>
        </dgm:presLayoutVars>
      </dgm:prSet>
      <dgm:spPr/>
    </dgm:pt>
    <dgm:pt modelId="{911BEB30-E0CE-4AD0-B9CB-C9FC53638DC3}" type="pres">
      <dgm:prSet presAssocID="{CD0B42FF-0E6D-481C-84B1-FD882E0D90A2}" presName="sibTrans" presStyleCnt="0"/>
      <dgm:spPr/>
    </dgm:pt>
    <dgm:pt modelId="{D59A18CB-ED7F-4097-B345-AC51886B4760}" type="pres">
      <dgm:prSet presAssocID="{77E54DD3-4997-4FCC-AF77-B2A7627C4752}" presName="compNode" presStyleCnt="0"/>
      <dgm:spPr/>
    </dgm:pt>
    <dgm:pt modelId="{11C51D14-460E-413B-85F2-D4DA8736A856}" type="pres">
      <dgm:prSet presAssocID="{77E54DD3-4997-4FCC-AF77-B2A7627C4752}" presName="iconBgRect" presStyleLbl="bgShp" presStyleIdx="2" presStyleCnt="4"/>
      <dgm:spPr/>
    </dgm:pt>
    <dgm:pt modelId="{A3734481-8CD2-46CA-BE8A-2692C319FAC6}" type="pres">
      <dgm:prSet presAssocID="{77E54DD3-4997-4FCC-AF77-B2A7627C475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llanıcılar"/>
        </a:ext>
      </dgm:extLst>
    </dgm:pt>
    <dgm:pt modelId="{5EA52F05-6C1E-4633-A3C7-60B450CCB676}" type="pres">
      <dgm:prSet presAssocID="{77E54DD3-4997-4FCC-AF77-B2A7627C4752}" presName="spaceRect" presStyleCnt="0"/>
      <dgm:spPr/>
    </dgm:pt>
    <dgm:pt modelId="{3752AE92-E66D-4AC4-9E62-ABAF08D532BB}" type="pres">
      <dgm:prSet presAssocID="{77E54DD3-4997-4FCC-AF77-B2A7627C4752}" presName="textRect" presStyleLbl="revTx" presStyleIdx="2" presStyleCnt="4">
        <dgm:presLayoutVars>
          <dgm:chMax val="1"/>
          <dgm:chPref val="1"/>
        </dgm:presLayoutVars>
      </dgm:prSet>
      <dgm:spPr/>
    </dgm:pt>
    <dgm:pt modelId="{75E8DC98-8A3F-4393-93D2-C163D60AF7B1}" type="pres">
      <dgm:prSet presAssocID="{631955F9-0B87-40FB-8EA9-5EE1276AD295}" presName="sibTrans" presStyleCnt="0"/>
      <dgm:spPr/>
    </dgm:pt>
    <dgm:pt modelId="{AD12E3D9-92B8-4004-B238-700267730BF3}" type="pres">
      <dgm:prSet presAssocID="{C1CE4027-8EFC-4046-A20A-40D9FC1BF26D}" presName="compNode" presStyleCnt="0"/>
      <dgm:spPr/>
    </dgm:pt>
    <dgm:pt modelId="{96FBC08E-F7FB-436D-8C8D-95EDCD8506A6}" type="pres">
      <dgm:prSet presAssocID="{C1CE4027-8EFC-4046-A20A-40D9FC1BF26D}" presName="iconBgRect" presStyleLbl="bgShp" presStyleIdx="3" presStyleCnt="4"/>
      <dgm:spPr/>
    </dgm:pt>
    <dgm:pt modelId="{82AEC597-78B2-42E4-8971-35DCB97332D3}" type="pres">
      <dgm:prSet presAssocID="{C1CE4027-8EFC-4046-A20A-40D9FC1BF26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8EA42B0-5D28-4778-92A9-722F34A42BE7}" type="pres">
      <dgm:prSet presAssocID="{C1CE4027-8EFC-4046-A20A-40D9FC1BF26D}" presName="spaceRect" presStyleCnt="0"/>
      <dgm:spPr/>
    </dgm:pt>
    <dgm:pt modelId="{588FF636-25EB-4B47-882D-52BB90391E06}" type="pres">
      <dgm:prSet presAssocID="{C1CE4027-8EFC-4046-A20A-40D9FC1BF2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4A4A006-DCA7-49C4-879C-F5108330D3EE}" type="presOf" srcId="{F420802A-DA22-491F-AEC1-52DED807A1E2}" destId="{CEFC9BED-2E0F-45A1-A34B-6F708FA77F65}" srcOrd="0" destOrd="0" presId="urn:microsoft.com/office/officeart/2018/5/layout/IconCircleLabelList"/>
    <dgm:cxn modelId="{2B9F956E-EB74-41CF-BC3D-C337F1BF8CBF}" srcId="{F420802A-DA22-491F-AEC1-52DED807A1E2}" destId="{52F031AF-D513-42E2-81A2-B17324A71C76}" srcOrd="1" destOrd="0" parTransId="{1102B53C-C73D-4575-B15F-77579B34CBA9}" sibTransId="{CD0B42FF-0E6D-481C-84B1-FD882E0D90A2}"/>
    <dgm:cxn modelId="{BBD8937A-EB6B-4183-BBC0-9FD172E2BC6E}" type="presOf" srcId="{43A13B10-2135-4596-AB28-F669DF979655}" destId="{EDE502D7-5CCB-4BC1-9702-866ED78A47C4}" srcOrd="0" destOrd="0" presId="urn:microsoft.com/office/officeart/2018/5/layout/IconCircleLabelList"/>
    <dgm:cxn modelId="{2C44708B-E37A-44D1-BE1D-B464E3743BD2}" type="presOf" srcId="{C1CE4027-8EFC-4046-A20A-40D9FC1BF26D}" destId="{588FF636-25EB-4B47-882D-52BB90391E06}" srcOrd="0" destOrd="0" presId="urn:microsoft.com/office/officeart/2018/5/layout/IconCircleLabelList"/>
    <dgm:cxn modelId="{5B04C2AF-F126-44A5-BACC-2A6207F3547A}" srcId="{F420802A-DA22-491F-AEC1-52DED807A1E2}" destId="{43A13B10-2135-4596-AB28-F669DF979655}" srcOrd="0" destOrd="0" parTransId="{9B5AB4A6-41EC-48CD-9B92-A59C89723D5C}" sibTransId="{9899F400-F8F6-48C4-8C3F-07C68BB8A566}"/>
    <dgm:cxn modelId="{F0A53BC8-A1A0-4851-9129-274C8E488B2A}" type="presOf" srcId="{52F031AF-D513-42E2-81A2-B17324A71C76}" destId="{7D50A3A1-0A44-4F62-87A3-4AC3D25E8032}" srcOrd="0" destOrd="0" presId="urn:microsoft.com/office/officeart/2018/5/layout/IconCircleLabelList"/>
    <dgm:cxn modelId="{3ECB98DC-ABB7-4B65-88FA-6673287CA765}" srcId="{F420802A-DA22-491F-AEC1-52DED807A1E2}" destId="{C1CE4027-8EFC-4046-A20A-40D9FC1BF26D}" srcOrd="3" destOrd="0" parTransId="{40165304-C65B-4E93-8E2B-98C49A490D3C}" sibTransId="{FBB535DE-B8A3-4964-85DB-A8C612416F15}"/>
    <dgm:cxn modelId="{777DD7ED-3EFF-4F9E-8B2A-91A948230978}" srcId="{F420802A-DA22-491F-AEC1-52DED807A1E2}" destId="{77E54DD3-4997-4FCC-AF77-B2A7627C4752}" srcOrd="2" destOrd="0" parTransId="{9E17CAE1-C72D-4DCE-BF29-63B19FE6405A}" sibTransId="{631955F9-0B87-40FB-8EA9-5EE1276AD295}"/>
    <dgm:cxn modelId="{12075BF7-919F-4D6B-85F8-61E0E9592004}" type="presOf" srcId="{77E54DD3-4997-4FCC-AF77-B2A7627C4752}" destId="{3752AE92-E66D-4AC4-9E62-ABAF08D532BB}" srcOrd="0" destOrd="0" presId="urn:microsoft.com/office/officeart/2018/5/layout/IconCircleLabelList"/>
    <dgm:cxn modelId="{F0235F45-C9EF-4030-92FE-2F654994B0E8}" type="presParOf" srcId="{CEFC9BED-2E0F-45A1-A34B-6F708FA77F65}" destId="{8450B8BD-156C-429F-958B-AE65FFAE7DAB}" srcOrd="0" destOrd="0" presId="urn:microsoft.com/office/officeart/2018/5/layout/IconCircleLabelList"/>
    <dgm:cxn modelId="{76E33473-B23A-4ACF-BFE9-1A87D760D7A2}" type="presParOf" srcId="{8450B8BD-156C-429F-958B-AE65FFAE7DAB}" destId="{F4ADE71F-C35C-4407-A36D-E15E2FD39CF2}" srcOrd="0" destOrd="0" presId="urn:microsoft.com/office/officeart/2018/5/layout/IconCircleLabelList"/>
    <dgm:cxn modelId="{C28AF580-18A1-416B-AFF7-FC5DB046CEA7}" type="presParOf" srcId="{8450B8BD-156C-429F-958B-AE65FFAE7DAB}" destId="{54F5449E-F4B9-4543-A104-1EFC74743668}" srcOrd="1" destOrd="0" presId="urn:microsoft.com/office/officeart/2018/5/layout/IconCircleLabelList"/>
    <dgm:cxn modelId="{8DF9A5F0-8B89-4C3D-9CE2-F3A31F54E5D2}" type="presParOf" srcId="{8450B8BD-156C-429F-958B-AE65FFAE7DAB}" destId="{D9B35114-9F62-4911-80A7-1FFF2D02A6F8}" srcOrd="2" destOrd="0" presId="urn:microsoft.com/office/officeart/2018/5/layout/IconCircleLabelList"/>
    <dgm:cxn modelId="{817491ED-DCE1-41EE-9E68-83C853EEF56D}" type="presParOf" srcId="{8450B8BD-156C-429F-958B-AE65FFAE7DAB}" destId="{EDE502D7-5CCB-4BC1-9702-866ED78A47C4}" srcOrd="3" destOrd="0" presId="urn:microsoft.com/office/officeart/2018/5/layout/IconCircleLabelList"/>
    <dgm:cxn modelId="{487A754E-8282-4D18-9131-1E619045C970}" type="presParOf" srcId="{CEFC9BED-2E0F-45A1-A34B-6F708FA77F65}" destId="{653721BD-7E9D-4E29-B428-9032F7AB2D75}" srcOrd="1" destOrd="0" presId="urn:microsoft.com/office/officeart/2018/5/layout/IconCircleLabelList"/>
    <dgm:cxn modelId="{2C11483D-5F69-4171-B372-B82D885C3958}" type="presParOf" srcId="{CEFC9BED-2E0F-45A1-A34B-6F708FA77F65}" destId="{98B81AF7-2DF1-4A30-B582-365C5E475781}" srcOrd="2" destOrd="0" presId="urn:microsoft.com/office/officeart/2018/5/layout/IconCircleLabelList"/>
    <dgm:cxn modelId="{7471867B-D72A-4778-8989-919D72899D49}" type="presParOf" srcId="{98B81AF7-2DF1-4A30-B582-365C5E475781}" destId="{A7FFAEE1-BE39-42DB-9ABD-D0FE1DDEF243}" srcOrd="0" destOrd="0" presId="urn:microsoft.com/office/officeart/2018/5/layout/IconCircleLabelList"/>
    <dgm:cxn modelId="{25F567D8-099E-4624-B66D-010D59945D11}" type="presParOf" srcId="{98B81AF7-2DF1-4A30-B582-365C5E475781}" destId="{B54BC863-3E3C-4DDA-9560-E51C2137791F}" srcOrd="1" destOrd="0" presId="urn:microsoft.com/office/officeart/2018/5/layout/IconCircleLabelList"/>
    <dgm:cxn modelId="{45734C4C-9291-4843-BBE4-B6779BAD4842}" type="presParOf" srcId="{98B81AF7-2DF1-4A30-B582-365C5E475781}" destId="{319E8FE4-0277-4A22-AC39-148CA6BA7B92}" srcOrd="2" destOrd="0" presId="urn:microsoft.com/office/officeart/2018/5/layout/IconCircleLabelList"/>
    <dgm:cxn modelId="{DBD52C01-4722-4C5A-A85C-8A120727EB55}" type="presParOf" srcId="{98B81AF7-2DF1-4A30-B582-365C5E475781}" destId="{7D50A3A1-0A44-4F62-87A3-4AC3D25E8032}" srcOrd="3" destOrd="0" presId="urn:microsoft.com/office/officeart/2018/5/layout/IconCircleLabelList"/>
    <dgm:cxn modelId="{2CD0D317-B2BC-450B-8956-36DACBB09D64}" type="presParOf" srcId="{CEFC9BED-2E0F-45A1-A34B-6F708FA77F65}" destId="{911BEB30-E0CE-4AD0-B9CB-C9FC53638DC3}" srcOrd="3" destOrd="0" presId="urn:microsoft.com/office/officeart/2018/5/layout/IconCircleLabelList"/>
    <dgm:cxn modelId="{FFBBEAB3-2234-4846-BE85-90BFAAF99EBC}" type="presParOf" srcId="{CEFC9BED-2E0F-45A1-A34B-6F708FA77F65}" destId="{D59A18CB-ED7F-4097-B345-AC51886B4760}" srcOrd="4" destOrd="0" presId="urn:microsoft.com/office/officeart/2018/5/layout/IconCircleLabelList"/>
    <dgm:cxn modelId="{8071AAB5-A5DB-46B7-AACD-9A4A228DF4C1}" type="presParOf" srcId="{D59A18CB-ED7F-4097-B345-AC51886B4760}" destId="{11C51D14-460E-413B-85F2-D4DA8736A856}" srcOrd="0" destOrd="0" presId="urn:microsoft.com/office/officeart/2018/5/layout/IconCircleLabelList"/>
    <dgm:cxn modelId="{E50377E9-F423-46D0-8D80-298153F35659}" type="presParOf" srcId="{D59A18CB-ED7F-4097-B345-AC51886B4760}" destId="{A3734481-8CD2-46CA-BE8A-2692C319FAC6}" srcOrd="1" destOrd="0" presId="urn:microsoft.com/office/officeart/2018/5/layout/IconCircleLabelList"/>
    <dgm:cxn modelId="{B2C6648A-FDC5-40ED-8E94-A715D14B73F7}" type="presParOf" srcId="{D59A18CB-ED7F-4097-B345-AC51886B4760}" destId="{5EA52F05-6C1E-4633-A3C7-60B450CCB676}" srcOrd="2" destOrd="0" presId="urn:microsoft.com/office/officeart/2018/5/layout/IconCircleLabelList"/>
    <dgm:cxn modelId="{B318F55E-18C2-4824-B37E-06884C478034}" type="presParOf" srcId="{D59A18CB-ED7F-4097-B345-AC51886B4760}" destId="{3752AE92-E66D-4AC4-9E62-ABAF08D532BB}" srcOrd="3" destOrd="0" presId="urn:microsoft.com/office/officeart/2018/5/layout/IconCircleLabelList"/>
    <dgm:cxn modelId="{F5FC0080-2CA4-4864-A20B-D2ED31BAA807}" type="presParOf" srcId="{CEFC9BED-2E0F-45A1-A34B-6F708FA77F65}" destId="{75E8DC98-8A3F-4393-93D2-C163D60AF7B1}" srcOrd="5" destOrd="0" presId="urn:microsoft.com/office/officeart/2018/5/layout/IconCircleLabelList"/>
    <dgm:cxn modelId="{EE6FA60F-137A-4520-87E8-385940A2960D}" type="presParOf" srcId="{CEFC9BED-2E0F-45A1-A34B-6F708FA77F65}" destId="{AD12E3D9-92B8-4004-B238-700267730BF3}" srcOrd="6" destOrd="0" presId="urn:microsoft.com/office/officeart/2018/5/layout/IconCircleLabelList"/>
    <dgm:cxn modelId="{D27A7BF2-9385-43A7-A633-467E37765FA1}" type="presParOf" srcId="{AD12E3D9-92B8-4004-B238-700267730BF3}" destId="{96FBC08E-F7FB-436D-8C8D-95EDCD8506A6}" srcOrd="0" destOrd="0" presId="urn:microsoft.com/office/officeart/2018/5/layout/IconCircleLabelList"/>
    <dgm:cxn modelId="{65124FF9-3A97-4225-BA5E-37C5C682A56D}" type="presParOf" srcId="{AD12E3D9-92B8-4004-B238-700267730BF3}" destId="{82AEC597-78B2-42E4-8971-35DCB97332D3}" srcOrd="1" destOrd="0" presId="urn:microsoft.com/office/officeart/2018/5/layout/IconCircleLabelList"/>
    <dgm:cxn modelId="{C9612D6A-6D7A-4009-965B-661C4DC7EDD2}" type="presParOf" srcId="{AD12E3D9-92B8-4004-B238-700267730BF3}" destId="{18EA42B0-5D28-4778-92A9-722F34A42BE7}" srcOrd="2" destOrd="0" presId="urn:microsoft.com/office/officeart/2018/5/layout/IconCircleLabelList"/>
    <dgm:cxn modelId="{0A511B12-3E9D-4AAE-9A86-2E5DD898A06C}" type="presParOf" srcId="{AD12E3D9-92B8-4004-B238-700267730BF3}" destId="{588FF636-25EB-4B47-882D-52BB90391E0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1D628-84D1-4AC0-91DB-954D553CC6B0}">
      <dsp:nvSpPr>
        <dsp:cNvPr id="0" name=""/>
        <dsp:cNvSpPr/>
      </dsp:nvSpPr>
      <dsp:spPr>
        <a:xfrm>
          <a:off x="0" y="870946"/>
          <a:ext cx="2911971" cy="18491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2B0F04-95C3-44D1-BB0B-67854B481F7C}">
      <dsp:nvSpPr>
        <dsp:cNvPr id="0" name=""/>
        <dsp:cNvSpPr/>
      </dsp:nvSpPr>
      <dsp:spPr>
        <a:xfrm>
          <a:off x="323552" y="1178321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/>
            <a:t>Online alışveriş siteleri genellikle sadece metin tabanlı arama seçeneği sunar.</a:t>
          </a:r>
          <a:endParaRPr lang="en-US" sz="2300" kern="1200" dirty="0"/>
        </a:p>
      </dsp:txBody>
      <dsp:txXfrm>
        <a:off x="377710" y="1232479"/>
        <a:ext cx="2803655" cy="1740785"/>
      </dsp:txXfrm>
    </dsp:sp>
    <dsp:sp modelId="{1F374982-AF76-4518-9749-C175EB95A10D}">
      <dsp:nvSpPr>
        <dsp:cNvPr id="0" name=""/>
        <dsp:cNvSpPr/>
      </dsp:nvSpPr>
      <dsp:spPr>
        <a:xfrm>
          <a:off x="3559075" y="870946"/>
          <a:ext cx="2911971" cy="18491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32BA17-8350-40BD-BF99-46F99B85420D}">
      <dsp:nvSpPr>
        <dsp:cNvPr id="0" name=""/>
        <dsp:cNvSpPr/>
      </dsp:nvSpPr>
      <dsp:spPr>
        <a:xfrm>
          <a:off x="3882628" y="1178321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Kullanıcılar kombin oluştururken destek alamamaktadır. </a:t>
          </a:r>
          <a:endParaRPr lang="en-US" sz="2300" kern="1200"/>
        </a:p>
      </dsp:txBody>
      <dsp:txXfrm>
        <a:off x="3936786" y="1232479"/>
        <a:ext cx="2803655" cy="1740785"/>
      </dsp:txXfrm>
    </dsp:sp>
    <dsp:sp modelId="{65B60D08-F1F8-466D-985E-B9DA42722318}">
      <dsp:nvSpPr>
        <dsp:cNvPr id="0" name=""/>
        <dsp:cNvSpPr/>
      </dsp:nvSpPr>
      <dsp:spPr>
        <a:xfrm>
          <a:off x="7118151" y="870946"/>
          <a:ext cx="2911971" cy="18491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78C34B-4A36-4C76-B64B-36B27F701A00}">
      <dsp:nvSpPr>
        <dsp:cNvPr id="0" name=""/>
        <dsp:cNvSpPr/>
      </dsp:nvSpPr>
      <dsp:spPr>
        <a:xfrm>
          <a:off x="7441703" y="1178321"/>
          <a:ext cx="2911971" cy="18491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Geleneksel filtreleme yöntemleri yetersiz kalmaktadır.</a:t>
          </a:r>
          <a:endParaRPr lang="en-US" sz="2300" kern="1200"/>
        </a:p>
      </dsp:txBody>
      <dsp:txXfrm>
        <a:off x="7495861" y="1232479"/>
        <a:ext cx="2803655" cy="1740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DE71F-C35C-4407-A36D-E15E2FD39CF2}">
      <dsp:nvSpPr>
        <dsp:cNvPr id="0" name=""/>
        <dsp:cNvSpPr/>
      </dsp:nvSpPr>
      <dsp:spPr>
        <a:xfrm>
          <a:off x="902689" y="762263"/>
          <a:ext cx="1261054" cy="12610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5449E-F4B9-4543-A104-1EFC74743668}">
      <dsp:nvSpPr>
        <dsp:cNvPr id="0" name=""/>
        <dsp:cNvSpPr/>
      </dsp:nvSpPr>
      <dsp:spPr>
        <a:xfrm>
          <a:off x="1171439" y="1031012"/>
          <a:ext cx="723555" cy="7235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502D7-5CCB-4BC1-9702-866ED78A47C4}">
      <dsp:nvSpPr>
        <dsp:cNvPr id="0" name=""/>
        <dsp:cNvSpPr/>
      </dsp:nvSpPr>
      <dsp:spPr>
        <a:xfrm>
          <a:off x="499565" y="2416105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700" kern="1200"/>
            <a:t>Görselden benzer ürün bulmak</a:t>
          </a:r>
          <a:endParaRPr lang="en-US" sz="1700" kern="1200"/>
        </a:p>
      </dsp:txBody>
      <dsp:txXfrm>
        <a:off x="499565" y="2416105"/>
        <a:ext cx="2067302" cy="720000"/>
      </dsp:txXfrm>
    </dsp:sp>
    <dsp:sp modelId="{A7FFAEE1-BE39-42DB-9ABD-D0FE1DDEF243}">
      <dsp:nvSpPr>
        <dsp:cNvPr id="0" name=""/>
        <dsp:cNvSpPr/>
      </dsp:nvSpPr>
      <dsp:spPr>
        <a:xfrm>
          <a:off x="3331770" y="762263"/>
          <a:ext cx="1261054" cy="12610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BC863-3E3C-4DDA-9560-E51C2137791F}">
      <dsp:nvSpPr>
        <dsp:cNvPr id="0" name=""/>
        <dsp:cNvSpPr/>
      </dsp:nvSpPr>
      <dsp:spPr>
        <a:xfrm>
          <a:off x="3600519" y="1031012"/>
          <a:ext cx="723555" cy="7235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0A3A1-0A44-4F62-87A3-4AC3D25E8032}">
      <dsp:nvSpPr>
        <dsp:cNvPr id="0" name=""/>
        <dsp:cNvSpPr/>
      </dsp:nvSpPr>
      <dsp:spPr>
        <a:xfrm>
          <a:off x="2928646" y="2416105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700" kern="1200"/>
            <a:t>Kombin önerileri sunmak</a:t>
          </a:r>
          <a:endParaRPr lang="en-US" sz="1700" kern="1200"/>
        </a:p>
      </dsp:txBody>
      <dsp:txXfrm>
        <a:off x="2928646" y="2416105"/>
        <a:ext cx="2067302" cy="720000"/>
      </dsp:txXfrm>
    </dsp:sp>
    <dsp:sp modelId="{11C51D14-460E-413B-85F2-D4DA8736A856}">
      <dsp:nvSpPr>
        <dsp:cNvPr id="0" name=""/>
        <dsp:cNvSpPr/>
      </dsp:nvSpPr>
      <dsp:spPr>
        <a:xfrm>
          <a:off x="5760850" y="762263"/>
          <a:ext cx="1261054" cy="126105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34481-8CD2-46CA-BE8A-2692C319FAC6}">
      <dsp:nvSpPr>
        <dsp:cNvPr id="0" name=""/>
        <dsp:cNvSpPr/>
      </dsp:nvSpPr>
      <dsp:spPr>
        <a:xfrm>
          <a:off x="6029599" y="1031012"/>
          <a:ext cx="723555" cy="7235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2AE92-E66D-4AC4-9E62-ABAF08D532BB}">
      <dsp:nvSpPr>
        <dsp:cNvPr id="0" name=""/>
        <dsp:cNvSpPr/>
      </dsp:nvSpPr>
      <dsp:spPr>
        <a:xfrm>
          <a:off x="5357726" y="2416105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700" kern="1200"/>
            <a:t>Kullanıcı deneyimini geliştirmek</a:t>
          </a:r>
          <a:endParaRPr lang="en-US" sz="1700" kern="1200"/>
        </a:p>
      </dsp:txBody>
      <dsp:txXfrm>
        <a:off x="5357726" y="2416105"/>
        <a:ext cx="2067302" cy="720000"/>
      </dsp:txXfrm>
    </dsp:sp>
    <dsp:sp modelId="{96FBC08E-F7FB-436D-8C8D-95EDCD8506A6}">
      <dsp:nvSpPr>
        <dsp:cNvPr id="0" name=""/>
        <dsp:cNvSpPr/>
      </dsp:nvSpPr>
      <dsp:spPr>
        <a:xfrm>
          <a:off x="8189930" y="762263"/>
          <a:ext cx="1261054" cy="126105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EC597-78B2-42E4-8971-35DCB97332D3}">
      <dsp:nvSpPr>
        <dsp:cNvPr id="0" name=""/>
        <dsp:cNvSpPr/>
      </dsp:nvSpPr>
      <dsp:spPr>
        <a:xfrm>
          <a:off x="8458679" y="1031012"/>
          <a:ext cx="723555" cy="7235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FF636-25EB-4B47-882D-52BB90391E06}">
      <dsp:nvSpPr>
        <dsp:cNvPr id="0" name=""/>
        <dsp:cNvSpPr/>
      </dsp:nvSpPr>
      <dsp:spPr>
        <a:xfrm>
          <a:off x="7786806" y="2416105"/>
          <a:ext cx="206730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tr-TR" sz="1700" kern="1200"/>
            <a:t>Akıllı moda öneri sistemi geliştirmek</a:t>
          </a:r>
          <a:endParaRPr lang="en-US" sz="1700" kern="1200"/>
        </a:p>
      </dsp:txBody>
      <dsp:txXfrm>
        <a:off x="7786806" y="2416105"/>
        <a:ext cx="206730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803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238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1675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403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070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9594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5162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577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07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23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879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66033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8813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77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009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04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7453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57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1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586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1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7F99000-8DC5-4FAA-962C-D38BB4F2BF7D}" type="datetime1">
              <a:rPr lang="en-US" smtClean="0"/>
              <a:t>6/19/2026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514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  <p:sldLayoutId id="2147483936" r:id="rId18"/>
    <p:sldLayoutId id="2147483937" r:id="rId19"/>
    <p:sldLayoutId id="2147483938" r:id="rId20"/>
    <p:sldLayoutId id="2147483939" r:id="rId21"/>
    <p:sldLayoutId id="2147483940" r:id="rId2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aramaggarwal/fashion-product-images-datas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lhadmrl/Tez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ECBFB2-D640-C22F-6CD1-20C84C2B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tr-TR" sz="2400" b="1"/>
              <a:t>Moda Ürünleri için Görsel Arama ve Kombin Öneri Sistemi</a:t>
            </a:r>
            <a:br>
              <a:rPr lang="tr-TR" sz="2400" b="1"/>
            </a:br>
            <a:endParaRPr lang="tr-TR" sz="2400"/>
          </a:p>
        </p:txBody>
      </p:sp>
      <p:pic>
        <p:nvPicPr>
          <p:cNvPr id="5" name="Resim Yer Tutucusu 4">
            <a:extLst>
              <a:ext uri="{FF2B5EF4-FFF2-40B4-BE49-F238E27FC236}">
                <a16:creationId xmlns:a16="http://schemas.microsoft.com/office/drawing/2014/main" id="{7E8B1163-05F9-6875-1F05-3F180BDB6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225" y="1930110"/>
            <a:ext cx="3899788" cy="2540579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  <p:sp>
        <p:nvSpPr>
          <p:cNvPr id="3" name="Alt Başlık 2">
            <a:extLst>
              <a:ext uri="{FF2B5EF4-FFF2-40B4-BE49-F238E27FC236}">
                <a16:creationId xmlns:a16="http://schemas.microsoft.com/office/drawing/2014/main" id="{283EF788-E6C8-0EFA-D2C6-922C4F9C2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t">
            <a:normAutofit/>
          </a:bodyPr>
          <a:lstStyle/>
          <a:p>
            <a:r>
              <a:rPr lang="tr-TR" dirty="0"/>
              <a:t>Talha Demirel</a:t>
            </a:r>
          </a:p>
          <a:p>
            <a:r>
              <a:rPr lang="tr-TR" dirty="0"/>
              <a:t>22040301060</a:t>
            </a:r>
          </a:p>
          <a:p>
            <a:r>
              <a:rPr lang="tr-TR" dirty="0"/>
              <a:t>Yazılım Mühendisliği Bölümü</a:t>
            </a:r>
          </a:p>
          <a:p>
            <a:r>
              <a:rPr lang="tr-TR" dirty="0"/>
              <a:t>İstanbul Topkapı Üniversitesi</a:t>
            </a:r>
          </a:p>
          <a:p>
            <a:r>
              <a:rPr lang="tr-TR" dirty="0"/>
              <a:t>Bitirme Projesi</a:t>
            </a:r>
          </a:p>
          <a:p>
            <a:r>
              <a:rPr lang="tr-TR" dirty="0"/>
              <a:t>2026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0934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C4F78B-C6E8-BBF4-239D-5141FA47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tr-TR" dirty="0"/>
              <a:t>Problem tanımı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01B3D1D-4B14-95FE-D01F-C67F0D20D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471173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2029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87E4C9-305A-A5C3-E6AB-9BC1D681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tr-TR" dirty="0"/>
              <a:t>Projenin amacı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4463064B-64A2-144C-70BC-10C658B11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404915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7228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87E2D3E-4A76-B7A5-87B8-03014DFA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740815" cy="4827693"/>
          </a:xfrm>
        </p:spPr>
        <p:txBody>
          <a:bodyPr>
            <a:normAutofit/>
          </a:bodyPr>
          <a:lstStyle/>
          <a:p>
            <a:pPr algn="r"/>
            <a:r>
              <a:rPr lang="tr-TR" dirty="0"/>
              <a:t>Kullanılan teknolojiler</a:t>
            </a:r>
            <a:endParaRPr lang="tr-T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912A5-0241-9D7B-EA81-D350F6AA9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765" y="963507"/>
            <a:ext cx="5959791" cy="4827694"/>
          </a:xfrm>
          <a:effectLst/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1400" b="1">
                <a:solidFill>
                  <a:schemeClr val="tx1"/>
                </a:solidFill>
              </a:rPr>
              <a:t>Backend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Python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FastAPI </a:t>
            </a:r>
          </a:p>
          <a:p>
            <a:pPr>
              <a:lnSpc>
                <a:spcPct val="90000"/>
              </a:lnSpc>
            </a:pPr>
            <a:r>
              <a:rPr lang="tr-TR" sz="1400" b="1">
                <a:solidFill>
                  <a:schemeClr val="tx1"/>
                </a:solidFill>
              </a:rPr>
              <a:t>Deep Learning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PyTorch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ResNet50 </a:t>
            </a:r>
          </a:p>
          <a:p>
            <a:pPr>
              <a:lnSpc>
                <a:spcPct val="90000"/>
              </a:lnSpc>
            </a:pPr>
            <a:r>
              <a:rPr lang="tr-TR" sz="1400" b="1">
                <a:solidFill>
                  <a:schemeClr val="tx1"/>
                </a:solidFill>
              </a:rPr>
              <a:t>Frontend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HTML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CSS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JavaScript </a:t>
            </a:r>
          </a:p>
          <a:p>
            <a:pPr>
              <a:lnSpc>
                <a:spcPct val="90000"/>
              </a:lnSpc>
            </a:pPr>
            <a:r>
              <a:rPr lang="tr-TR" sz="1400" b="1">
                <a:solidFill>
                  <a:schemeClr val="tx1"/>
                </a:solidFill>
              </a:rPr>
              <a:t>Veri İşleme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Pandas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NumPy </a:t>
            </a:r>
          </a:p>
          <a:p>
            <a:pPr>
              <a:lnSpc>
                <a:spcPct val="90000"/>
              </a:lnSpc>
            </a:pPr>
            <a:r>
              <a:rPr lang="tr-TR" sz="1400">
                <a:solidFill>
                  <a:schemeClr val="tx1"/>
                </a:solidFill>
              </a:rPr>
              <a:t>Scikit-Learn</a:t>
            </a:r>
          </a:p>
          <a:p>
            <a:pPr>
              <a:lnSpc>
                <a:spcPct val="90000"/>
              </a:lnSpc>
            </a:pPr>
            <a:endParaRPr lang="tr-TR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652D62-ECFB-408E-ABE6-155A644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EA985-924B-4044-8778-32D1E7164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3619B88-1B39-CB9D-40D4-B560D4E8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6"/>
            <a:ext cx="3740815" cy="4827693"/>
          </a:xfrm>
        </p:spPr>
        <p:txBody>
          <a:bodyPr>
            <a:normAutofit/>
          </a:bodyPr>
          <a:lstStyle/>
          <a:p>
            <a:pPr algn="r"/>
            <a:r>
              <a:rPr lang="tr-TR" dirty="0"/>
              <a:t>Veri seti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7F9CB-BCC3-4648-8DEF-07B0887D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1187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5D73D1-1CD0-639D-0105-5C4E6B022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765" y="963507"/>
            <a:ext cx="5959791" cy="4827694"/>
          </a:xfrm>
          <a:effectLst/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b="1" dirty="0" err="1">
                <a:solidFill>
                  <a:schemeClr val="tx1"/>
                </a:solidFill>
              </a:rPr>
              <a:t>Fashion</a:t>
            </a:r>
            <a:r>
              <a:rPr lang="tr-TR" b="1" dirty="0">
                <a:solidFill>
                  <a:schemeClr val="tx1"/>
                </a:solidFill>
              </a:rPr>
              <a:t> Product </a:t>
            </a:r>
            <a:r>
              <a:rPr lang="tr-TR" b="1" dirty="0" err="1">
                <a:solidFill>
                  <a:schemeClr val="tx1"/>
                </a:solidFill>
              </a:rPr>
              <a:t>Images</a:t>
            </a:r>
            <a:r>
              <a:rPr lang="tr-TR" b="1" dirty="0">
                <a:solidFill>
                  <a:schemeClr val="tx1"/>
                </a:solidFill>
              </a:rPr>
              <a:t> </a:t>
            </a:r>
            <a:r>
              <a:rPr lang="tr-TR" b="1" dirty="0" err="1">
                <a:solidFill>
                  <a:schemeClr val="tx1"/>
                </a:solidFill>
              </a:rPr>
              <a:t>Dataset</a:t>
            </a:r>
            <a:endParaRPr lang="tr-TR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Link : </a:t>
            </a:r>
            <a:r>
              <a:rPr lang="tr-TR" dirty="0">
                <a:solidFill>
                  <a:schemeClr val="tx1"/>
                </a:solidFill>
                <a:hlinkClick r:id="rId3"/>
              </a:rPr>
              <a:t>https://www.kaggle.com/datasets/paramaggarwal/fashion-product-images-dataset</a:t>
            </a: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44.093 ürün</a:t>
            </a:r>
          </a:p>
          <a:p>
            <a:pPr>
              <a:lnSpc>
                <a:spcPct val="90000"/>
              </a:lnSpc>
            </a:pP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Veri özellikleri: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Görseller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Cinsiyet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Kategori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Renk </a:t>
            </a:r>
          </a:p>
          <a:p>
            <a:pPr>
              <a:lnSpc>
                <a:spcPct val="90000"/>
              </a:lnSpc>
            </a:pPr>
            <a:r>
              <a:rPr lang="tr-TR" dirty="0">
                <a:solidFill>
                  <a:schemeClr val="tx1"/>
                </a:solidFill>
              </a:rPr>
              <a:t>Kullanım amacı</a:t>
            </a:r>
          </a:p>
          <a:p>
            <a:pPr>
              <a:lnSpc>
                <a:spcPct val="90000"/>
              </a:lnSpc>
            </a:pP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430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0D29D4-684A-C7E9-413D-DD0BE4B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Sistemin Çalışma Mantığı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14B4796-DBA8-DE9D-C711-D95DC9A6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1EA80EF6-EB57-DEC6-B623-4C3A1FE1B1DD}"/>
              </a:ext>
            </a:extLst>
          </p:cNvPr>
          <p:cNvSpPr/>
          <p:nvPr/>
        </p:nvSpPr>
        <p:spPr>
          <a:xfrm>
            <a:off x="1262743" y="1799771"/>
            <a:ext cx="2148114" cy="91440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Görsel Yükleme</a:t>
            </a: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11B982A0-1D58-7CA9-A661-7D8AB2A656D3}"/>
              </a:ext>
            </a:extLst>
          </p:cNvPr>
          <p:cNvSpPr/>
          <p:nvPr/>
        </p:nvSpPr>
        <p:spPr>
          <a:xfrm>
            <a:off x="6096000" y="4755679"/>
            <a:ext cx="2224749" cy="9144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Cosine</a:t>
            </a:r>
            <a:r>
              <a:rPr lang="tr-TR" dirty="0"/>
              <a:t> </a:t>
            </a:r>
            <a:r>
              <a:rPr lang="tr-TR" dirty="0" err="1"/>
              <a:t>Similarity</a:t>
            </a:r>
            <a:endParaRPr lang="tr-TR" dirty="0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EB8E99EC-A69C-E448-EBC5-A2D0E5536B2E}"/>
              </a:ext>
            </a:extLst>
          </p:cNvPr>
          <p:cNvSpPr/>
          <p:nvPr/>
        </p:nvSpPr>
        <p:spPr>
          <a:xfrm>
            <a:off x="1262743" y="4664964"/>
            <a:ext cx="2148114" cy="9144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Extraction</a:t>
            </a:r>
            <a:endParaRPr lang="tr-TR" dirty="0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BA1D7113-6C0B-38C1-FEE7-720471FCC4A5}"/>
              </a:ext>
            </a:extLst>
          </p:cNvPr>
          <p:cNvSpPr/>
          <p:nvPr/>
        </p:nvSpPr>
        <p:spPr>
          <a:xfrm>
            <a:off x="6096000" y="1813777"/>
            <a:ext cx="214811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Kombin Önerileri</a:t>
            </a:r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CE4396DA-D9D8-6E14-4290-C5F6CCD027C1}"/>
              </a:ext>
            </a:extLst>
          </p:cNvPr>
          <p:cNvSpPr/>
          <p:nvPr/>
        </p:nvSpPr>
        <p:spPr>
          <a:xfrm>
            <a:off x="6100063" y="3229430"/>
            <a:ext cx="2148114" cy="9144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Benzer Ürünler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EBF88BF1-F2E6-0973-A4B9-26E8F9B37588}"/>
              </a:ext>
            </a:extLst>
          </p:cNvPr>
          <p:cNvSpPr/>
          <p:nvPr/>
        </p:nvSpPr>
        <p:spPr>
          <a:xfrm>
            <a:off x="1262743" y="3232367"/>
            <a:ext cx="2148114" cy="9144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ResNet50</a:t>
            </a:r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ED648802-43D5-B1AB-1DA3-F56C047CE2B4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2336800" y="2714171"/>
            <a:ext cx="0" cy="518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0D36E933-EA8D-3429-28B0-8AF4DACCEED8}"/>
              </a:ext>
            </a:extLst>
          </p:cNvPr>
          <p:cNvCxnSpPr>
            <a:stCxn id="11" idx="2"/>
            <a:endCxn id="8" idx="0"/>
          </p:cNvCxnSpPr>
          <p:nvPr/>
        </p:nvCxnSpPr>
        <p:spPr>
          <a:xfrm>
            <a:off x="2336800" y="4146767"/>
            <a:ext cx="0" cy="5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3DF3E9CD-448B-D960-8FBB-4B3108F6D2FD}"/>
              </a:ext>
            </a:extLst>
          </p:cNvPr>
          <p:cNvCxnSpPr>
            <a:stCxn id="8" idx="3"/>
          </p:cNvCxnSpPr>
          <p:nvPr/>
        </p:nvCxnSpPr>
        <p:spPr>
          <a:xfrm>
            <a:off x="3410857" y="5122164"/>
            <a:ext cx="2685143" cy="1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495F3A4C-440B-DA26-F702-FC89AA6E7CED}"/>
              </a:ext>
            </a:extLst>
          </p:cNvPr>
          <p:cNvCxnSpPr>
            <a:cxnSpLocks/>
          </p:cNvCxnSpPr>
          <p:nvPr/>
        </p:nvCxnSpPr>
        <p:spPr>
          <a:xfrm flipV="1">
            <a:off x="7208374" y="4143830"/>
            <a:ext cx="0" cy="611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786BA755-0AA2-BB88-5523-71ABF8AE2B17}"/>
              </a:ext>
            </a:extLst>
          </p:cNvPr>
          <p:cNvCxnSpPr>
            <a:endCxn id="9" idx="2"/>
          </p:cNvCxnSpPr>
          <p:nvPr/>
        </p:nvCxnSpPr>
        <p:spPr>
          <a:xfrm flipV="1">
            <a:off x="7170057" y="2728177"/>
            <a:ext cx="0" cy="501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90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F02404-D668-655B-6909-0DFD72B9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3300" b="1" dirty="0"/>
              <a:t>Benzer </a:t>
            </a:r>
            <a:r>
              <a:rPr lang="en-US" sz="3300" b="1" dirty="0" err="1"/>
              <a:t>Ürün</a:t>
            </a:r>
            <a:r>
              <a:rPr lang="en-US" sz="3300" b="1" dirty="0"/>
              <a:t> Arama</a:t>
            </a:r>
            <a:br>
              <a:rPr lang="en-US" sz="700" dirty="0"/>
            </a:br>
            <a:br>
              <a:rPr lang="en-US" sz="700" i="0" dirty="0"/>
            </a:br>
            <a:br>
              <a:rPr lang="en-US" sz="700" i="0" dirty="0"/>
            </a:br>
            <a:br>
              <a:rPr lang="en-US" sz="700" i="0" dirty="0"/>
            </a:br>
            <a:endParaRPr lang="en-US" sz="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8">
                <a:extLst>
                  <a:ext uri="{FF2B5EF4-FFF2-40B4-BE49-F238E27FC236}">
                    <a16:creationId xmlns:a16="http://schemas.microsoft.com/office/drawing/2014/main" id="{B66AAB88-B96E-E5FE-AC80-59F337DA117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3795" y="1732449"/>
                <a:ext cx="3078749" cy="405875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1500" dirty="0"/>
                  <a:t>ResNet50 </a:t>
                </a:r>
                <a:r>
                  <a:rPr lang="en-US" sz="1500" dirty="0" err="1"/>
                  <a:t>modeli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ile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ürün</a:t>
                </a:r>
                <a:r>
                  <a:rPr lang="en-US" sz="1500" dirty="0"/>
                  <a:t> </a:t>
                </a:r>
                <a:r>
                  <a:rPr lang="en-US" sz="1500" dirty="0" err="1"/>
                  <a:t>görsellerinden</a:t>
                </a:r>
                <a:r>
                  <a:rPr lang="en-US" sz="1500" dirty="0"/>
                  <a:t> 2048 </a:t>
                </a:r>
                <a:r>
                  <a:rPr lang="en-US" sz="1500" dirty="0" err="1"/>
                  <a:t>boyutlu</a:t>
                </a:r>
                <a:r>
                  <a:rPr lang="en-US" sz="1500" dirty="0"/>
                  <a:t> </a:t>
                </a:r>
                <a:r>
                  <a:rPr lang="en-US" sz="1500" dirty="0" err="1"/>
                  <a:t>özellik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vektörleri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çıkarılmıştır</a:t>
                </a:r>
                <a:r>
                  <a:rPr lang="en-US" sz="1500" dirty="0"/>
                  <a:t>. Ürünler </a:t>
                </a:r>
                <a:r>
                  <a:rPr lang="en-US" sz="1500" dirty="0" err="1"/>
                  <a:t>arasındaki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benzerlik</a:t>
                </a:r>
                <a:r>
                  <a:rPr lang="en-US" sz="1500" dirty="0"/>
                  <a:t>, </a:t>
                </a:r>
                <a:r>
                  <a:rPr lang="en-US" sz="1500" dirty="0" err="1"/>
                  <a:t>kosinüs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benzerliği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yöntemi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ile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hesaplanmıştır</a:t>
                </a:r>
                <a:r>
                  <a:rPr lang="en-US" sz="1500" dirty="0"/>
                  <a:t>.</a:t>
                </a:r>
                <a:br>
                  <a:rPr lang="en-US" sz="1500" dirty="0"/>
                </a:br>
                <a:endParaRPr lang="tr-TR" sz="1500" dirty="0"/>
              </a:p>
              <a:p>
                <a:endParaRPr lang="tr-TR" sz="15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500"/>
                      <m:t>Benzerlik</m:t>
                    </m:r>
                    <m:d>
                      <m:d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4" name="Content Placeholder 8">
                <a:extLst>
                  <a:ext uri="{FF2B5EF4-FFF2-40B4-BE49-F238E27FC236}">
                    <a16:creationId xmlns:a16="http://schemas.microsoft.com/office/drawing/2014/main" id="{B66AAB88-B96E-E5FE-AC80-59F337DA1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3795" y="1732449"/>
                <a:ext cx="3078749" cy="40587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9E657CD-640A-B5AE-81A6-AD4F9F1F9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6" r="3" b="822"/>
          <a:stretch>
            <a:fillRect/>
          </a:stretch>
        </p:blipFill>
        <p:spPr>
          <a:xfrm>
            <a:off x="5120640" y="1438360"/>
            <a:ext cx="5676236" cy="38353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421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BA2801-EE05-DE7A-1CD7-305C4FA2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Kombin Öneri Sistemi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8F9C38E-97FB-7F0E-3C04-E8F27E7A8360}"/>
              </a:ext>
            </a:extLst>
          </p:cNvPr>
          <p:cNvSpPr txBox="1"/>
          <p:nvPr/>
        </p:nvSpPr>
        <p:spPr>
          <a:xfrm>
            <a:off x="913795" y="1732449"/>
            <a:ext cx="3078749" cy="4058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</a:pPr>
            <a:r>
              <a:rPr lang="en-US" sz="1200" b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Çok Kriterli Mantıksal Filtreleme:</a:t>
            </a:r>
            <a:r>
              <a:rPr lang="en-US" sz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Sistem, aday havuzunu anlık olarak üç farklı mantıksal süzgeçten geçirir: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200" i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Cinsiyet Filtresi:</a:t>
            </a:r>
            <a:r>
              <a:rPr lang="en-US" sz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Sorgu ürünüyle hedef kitlesi uyuşmayan (erkek/kadın) ürünleri doğrudan eler.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200" i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Zıt Kategori Filtresi (Inverse Filtering):</a:t>
            </a:r>
            <a:r>
              <a:rPr lang="en-US" sz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Sorgu ürünü üst giyim ise havuzdan üst giyimleri çıkarır; alt giyim, ayakkabı ve aksesuarı aday bırakır.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 sz="1200" i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Tarz Filtresi (Usage-Based):</a:t>
            </a:r>
            <a:r>
              <a:rPr lang="en-US" sz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Sorgu ürünü "Spor" ise klasik parçaları eleyerek kombin bütünlüğünü korur.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</a:pPr>
            <a:r>
              <a:rPr lang="en-US" sz="1200" b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Sezgisel Puanlama ve Renk Uyumu :</a:t>
            </a:r>
            <a:r>
              <a:rPr lang="en-US" sz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Filtreleme adımlarını geçen adayların kosinüs benzerliği skorlarına, moda teorisindeki renk uyum matrisleri doğrultusunda, En yüksek sezgisel skora sahip farklı kategorideki ilk 4 ürün seçilerek kombin tamamlanır.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06CD4EE-C1B9-B1F8-E267-DE438A1EC2F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8" r="3" b="3154"/>
          <a:stretch>
            <a:fillRect/>
          </a:stretch>
        </p:blipFill>
        <p:spPr>
          <a:xfrm>
            <a:off x="5120640" y="1438360"/>
            <a:ext cx="5676236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4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3B798E-D2B9-9692-9B73-5AD66DFC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Sezgisel Puanlama Denklemi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070DEDB8-0470-99EF-256A-647BAA7090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tr-TR" i="0">
                        <a:latin typeface="Cambria Math" panose="02040503050406030204" pitchFamily="18" charset="0"/>
                      </a:rPr>
                      <m:t>Sim</m:t>
                    </m:r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tr-TR" i="0">
                            <a:latin typeface="Cambria Math" panose="02040503050406030204" pitchFamily="18" charset="0"/>
                          </a:rPr>
                          <m:t>usage</m:t>
                        </m:r>
                      </m:sub>
                    </m:sSub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tr-TR" dirty="0"/>
              </a:p>
              <a:p>
                <a:r>
                  <a:rPr lang="tr-TR" dirty="0"/>
                  <a:t>Ağırlıkların gösterimi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dirty="0"/>
                  <a:t>= 0.60,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dirty="0"/>
                  <a:t>= 0.40,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/>
                  <a:t>= 1.0 yaptığım denemeler sonucunda sistemin en kararlı kombinleri üretmesi için bu seviyede sabitledim.</a:t>
                </a:r>
                <a:endParaRPr lang="tr-TR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tr-TR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tr-TR" smtClean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tr-TR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tr-TR"/>
                      <m:t>erin</m:t>
                    </m:r>
                    <m:r>
                      <m:rPr>
                        <m:nor/>
                      </m:rPr>
                      <a:rPr lang="tr-TR"/>
                      <m:t> öğ</m:t>
                    </m:r>
                    <m:r>
                      <m:rPr>
                        <m:nor/>
                      </m:rPr>
                      <a:rPr lang="tr-TR"/>
                      <m:t>renme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modelinden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ald</m:t>
                    </m:r>
                    <m:r>
                      <m:rPr>
                        <m:nor/>
                      </m:rPr>
                      <a:rPr lang="tr-TR"/>
                      <m:t>ığı</m:t>
                    </m:r>
                    <m:r>
                      <m:rPr>
                        <m:nor/>
                      </m:rPr>
                      <a:rPr lang="tr-TR"/>
                      <m:t>m</m:t>
                    </m:r>
                    <m:r>
                      <m:rPr>
                        <m:nor/>
                      </m:rPr>
                      <a:rPr lang="tr-TR"/>
                      <m:t>ı</m:t>
                    </m:r>
                    <m:r>
                      <m:rPr>
                        <m:nor/>
                      </m:rPr>
                      <a:rPr lang="tr-TR"/>
                      <m:t>z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Kosin</m:t>
                    </m:r>
                    <m:r>
                      <m:rPr>
                        <m:nor/>
                      </m:rPr>
                      <a:rPr lang="tr-TR"/>
                      <m:t>ü</m:t>
                    </m:r>
                    <m:r>
                      <m:rPr>
                        <m:nor/>
                      </m:rPr>
                      <a:rPr lang="tr-TR"/>
                      <m:t>s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Benzerli</m:t>
                    </m:r>
                    <m:r>
                      <m:rPr>
                        <m:nor/>
                      </m:rPr>
                      <a:rPr lang="tr-TR"/>
                      <m:t>ğ</m:t>
                    </m:r>
                    <m:r>
                      <m:rPr>
                        <m:nor/>
                      </m:rPr>
                      <a:rPr lang="tr-TR"/>
                      <m:t>i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de</m:t>
                    </m:r>
                    <m:r>
                      <m:rPr>
                        <m:nor/>
                      </m:rPr>
                      <a:rPr lang="tr-TR"/>
                      <m:t>ğ</m:t>
                    </m:r>
                    <m:r>
                      <m:rPr>
                        <m:nor/>
                      </m:rPr>
                      <a:rPr lang="tr-TR"/>
                      <m:t>eridir</m:t>
                    </m:r>
                  </m:oMath>
                </a14:m>
                <a:r>
                  <a:rPr lang="tr-T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dirty="0"/>
                  <a:t>Eğer aday ürün, ana kıyafetin rengiyle  moda teorisine uygunsa ödül puanı kazanarak üst sıralara tırmanır.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tr-TR">
                            <a:latin typeface="Cambria Math" panose="02040503050406030204" pitchFamily="18" charset="0"/>
                          </a:rPr>
                          <m:t>usage</m:t>
                        </m:r>
                      </m:sub>
                    </m:sSub>
                    <m:d>
                      <m:d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tr-TR"/>
                      <m:t>Spor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bir</m:t>
                    </m:r>
                    <m:r>
                      <m:rPr>
                        <m:nor/>
                      </m:rPr>
                      <a:rPr lang="tr-TR"/>
                      <m:t> ü</m:t>
                    </m:r>
                    <m:r>
                      <m:rPr>
                        <m:nor/>
                      </m:rPr>
                      <a:rPr lang="tr-TR"/>
                      <m:t>r</m:t>
                    </m:r>
                    <m:r>
                      <m:rPr>
                        <m:nor/>
                      </m:rPr>
                      <a:rPr lang="tr-TR"/>
                      <m:t>ü</m:t>
                    </m:r>
                    <m:r>
                      <m:rPr>
                        <m:nor/>
                      </m:rPr>
                      <a:rPr lang="tr-TR"/>
                      <m:t>n</m:t>
                    </m:r>
                    <m:r>
                      <m:rPr>
                        <m:nor/>
                      </m:rPr>
                      <a:rPr lang="tr-TR"/>
                      <m:t>ü</m:t>
                    </m:r>
                    <m:r>
                      <m:rPr>
                        <m:nor/>
                      </m:rPr>
                      <a:rPr lang="tr-TR"/>
                      <m:t>n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alt</m:t>
                    </m:r>
                    <m:r>
                      <m:rPr>
                        <m:nor/>
                      </m:rPr>
                      <a:rPr lang="tr-TR"/>
                      <m:t>ı</m:t>
                    </m:r>
                    <m:r>
                      <m:rPr>
                        <m:nor/>
                      </m:rPr>
                      <a:rPr lang="tr-TR"/>
                      <m:t>na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klasik</m:t>
                    </m:r>
                    <m:r>
                      <m:rPr>
                        <m:nor/>
                      </m:rPr>
                      <a:rPr lang="tr-TR"/>
                      <m:t>/</m:t>
                    </m:r>
                    <m:r>
                      <m:rPr>
                        <m:nor/>
                      </m:rPr>
                      <a:rPr lang="tr-TR"/>
                      <m:t>abiye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bir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par</m:t>
                    </m:r>
                    <m:r>
                      <m:rPr>
                        <m:nor/>
                      </m:rPr>
                      <a:rPr lang="tr-TR"/>
                      <m:t>ç</m:t>
                    </m:r>
                    <m:r>
                      <m:rPr>
                        <m:nor/>
                      </m:rPr>
                      <a:rPr lang="tr-TR"/>
                      <m:t>a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e</m:t>
                    </m:r>
                    <m:r>
                      <m:rPr>
                        <m:nor/>
                      </m:rPr>
                      <a:rPr lang="tr-TR"/>
                      <m:t>ş</m:t>
                    </m:r>
                    <m:r>
                      <m:rPr>
                        <m:nor/>
                      </m:rPr>
                      <a:rPr lang="tr-TR"/>
                      <m:t>le</m:t>
                    </m:r>
                    <m:r>
                      <m:rPr>
                        <m:nor/>
                      </m:rPr>
                      <a:rPr lang="tr-TR"/>
                      <m:t>ş</m:t>
                    </m:r>
                    <m:r>
                      <m:rPr>
                        <m:nor/>
                      </m:rPr>
                      <a:rPr lang="tr-TR"/>
                      <m:t>meye</m:t>
                    </m:r>
                    <m:r>
                      <m:rPr>
                        <m:nor/>
                      </m:rPr>
                      <a:rPr lang="tr-TR"/>
                      <m:t> ç</m:t>
                    </m:r>
                    <m:r>
                      <m:rPr>
                        <m:nor/>
                      </m:rPr>
                      <a:rPr lang="tr-TR"/>
                      <m:t>al</m:t>
                    </m:r>
                    <m:r>
                      <m:rPr>
                        <m:nor/>
                      </m:rPr>
                      <a:rPr lang="tr-TR"/>
                      <m:t>ışı</m:t>
                    </m:r>
                    <m:r>
                      <m:rPr>
                        <m:nor/>
                      </m:rPr>
                      <a:rPr lang="tr-TR"/>
                      <m:t>rsa</m:t>
                    </m:r>
                    <m:r>
                      <m:rPr>
                        <m:nor/>
                      </m:rPr>
                      <a:rPr lang="tr-TR"/>
                      <m:t>, </m:t>
                    </m:r>
                    <m:r>
                      <m:rPr>
                        <m:nor/>
                      </m:rPr>
                      <a:rPr lang="tr-TR"/>
                      <m:t>sistem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buna</m:t>
                    </m:r>
                    <m:r>
                      <m:rPr>
                        <m:nor/>
                      </m:rPr>
                      <a:rPr lang="tr-TR"/>
                      <m:t> ç</m:t>
                    </m:r>
                    <m:r>
                      <m:rPr>
                        <m:nor/>
                      </m:rPr>
                      <a:rPr lang="tr-TR"/>
                      <m:t>ok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a</m:t>
                    </m:r>
                    <m:r>
                      <m:rPr>
                        <m:nor/>
                      </m:rPr>
                      <a:rPr lang="tr-TR"/>
                      <m:t>ğı</m:t>
                    </m:r>
                    <m:r>
                      <m:rPr>
                        <m:nor/>
                      </m:rPr>
                      <a:rPr lang="tr-TR"/>
                      <m:t>r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bir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 b="0" i="0" smtClean="0"/>
                      <m:t>ceza</m:t>
                    </m:r>
                    <m:r>
                      <m:rPr>
                        <m:nor/>
                      </m:rPr>
                      <a:rPr lang="tr-TR" b="0" i="0" smtClean="0"/>
                      <m:t> </m:t>
                    </m:r>
                    <m:r>
                      <m:rPr>
                        <m:nor/>
                      </m:rPr>
                      <a:rPr lang="tr-TR" b="0" i="0" smtClean="0"/>
                      <m:t>puan</m:t>
                    </m:r>
                    <m:r>
                      <m:rPr>
                        <m:nor/>
                      </m:rPr>
                      <a:rPr lang="tr-TR" b="0" i="0" smtClean="0"/>
                      <m:t>ı </m:t>
                    </m:r>
                    <m:r>
                      <m:rPr>
                        <m:nor/>
                      </m:rPr>
                      <a:rPr lang="tr-TR"/>
                      <m:t>keserek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o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aday</m:t>
                    </m:r>
                    <m:r>
                      <m:rPr>
                        <m:nor/>
                      </m:rPr>
                      <a:rPr lang="tr-TR"/>
                      <m:t>ı </m:t>
                    </m:r>
                    <m:r>
                      <m:rPr>
                        <m:nor/>
                      </m:rPr>
                      <a:rPr lang="tr-TR"/>
                      <m:t>listenin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en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dibine</m:t>
                    </m:r>
                    <m:r>
                      <m:rPr>
                        <m:nor/>
                      </m:rPr>
                      <a:rPr lang="tr-TR"/>
                      <m:t> </m:t>
                    </m:r>
                    <m:r>
                      <m:rPr>
                        <m:nor/>
                      </m:rPr>
                      <a:rPr lang="tr-TR"/>
                      <m:t>f</m:t>
                    </m:r>
                    <m:r>
                      <m:rPr>
                        <m:nor/>
                      </m:rPr>
                      <a:rPr lang="tr-TR"/>
                      <m:t>ı</m:t>
                    </m:r>
                    <m:r>
                      <m:rPr>
                        <m:nor/>
                      </m:rPr>
                      <a:rPr lang="tr-TR"/>
                      <m:t>rlat</m:t>
                    </m:r>
                    <m:r>
                      <m:rPr>
                        <m:nor/>
                      </m:rPr>
                      <a:rPr lang="tr-TR"/>
                      <m:t>ı</m:t>
                    </m:r>
                    <m:r>
                      <m:rPr>
                        <m:nor/>
                      </m:rPr>
                      <a:rPr lang="tr-TR"/>
                      <m:t>r</m:t>
                    </m:r>
                    <m:r>
                      <m:rPr>
                        <m:nor/>
                      </m:rPr>
                      <a:rPr lang="tr-TR"/>
                      <m:t>.</m:t>
                    </m:r>
                  </m:oMath>
                </a14:m>
                <a:endParaRPr lang="tr-TR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070DEDB8-0470-99EF-256A-647BAA709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86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3BA045-EC72-E1CA-DB98-D20205E0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tr-TR" dirty="0"/>
              <a:t>Başarı Metrikleri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0D8D2F-B45F-607C-C6B8-45CECA03C5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tr-TR" sz="1500" dirty="0"/>
          </a:p>
          <a:p>
            <a:pPr>
              <a:lnSpc>
                <a:spcPct val="110000"/>
              </a:lnSpc>
            </a:pPr>
            <a:r>
              <a:rPr lang="tr-TR" sz="1500" dirty="0"/>
              <a:t>Top-5 Hit Rate: Rastgele seçilen sorgu görselleri sisteme yüklendiğinde, üretilen ilk 5 benzer sonuç içerisindeki ürünlerin, sorgu nesnesiyle aynı alt kategori (</a:t>
            </a:r>
            <a:r>
              <a:rPr lang="tr-TR" sz="1500" dirty="0" err="1"/>
              <a:t>sub_category</a:t>
            </a:r>
            <a:r>
              <a:rPr lang="tr-TR" sz="1500" dirty="0"/>
              <a:t>) ve kullanım senaryosuna (</a:t>
            </a:r>
            <a:r>
              <a:rPr lang="tr-TR" sz="1500" dirty="0" err="1"/>
              <a:t>usage</a:t>
            </a:r>
            <a:r>
              <a:rPr lang="tr-TR" sz="1500" dirty="0"/>
              <a:t>) sahip olma oranı %98.34 olarak ölçülmüştür</a:t>
            </a:r>
          </a:p>
          <a:p>
            <a:pPr>
              <a:lnSpc>
                <a:spcPct val="110000"/>
              </a:lnSpc>
            </a:pPr>
            <a:endParaRPr lang="tr-TR" sz="1500" dirty="0"/>
          </a:p>
          <a:p>
            <a:pPr>
              <a:lnSpc>
                <a:spcPct val="110000"/>
              </a:lnSpc>
            </a:pPr>
            <a:r>
              <a:rPr lang="tr-TR" sz="1500" dirty="0"/>
              <a:t> Ortalama Hassasiyet: Öneri motoru tarafından getirilen ilk 5 sonucun kendi içindeki sıralama kalitesini ve alaka düzeyini gösteren </a:t>
            </a:r>
            <a:r>
              <a:rPr lang="tr-TR" sz="1500" dirty="0" err="1"/>
              <a:t>Avarage</a:t>
            </a:r>
            <a:r>
              <a:rPr lang="tr-TR" sz="1500" dirty="0"/>
              <a:t> </a:t>
            </a:r>
            <a:r>
              <a:rPr lang="tr-TR" sz="1500" dirty="0" err="1"/>
              <a:t>precision</a:t>
            </a:r>
            <a:r>
              <a:rPr lang="tr-TR" sz="1500" dirty="0"/>
              <a:t> değeri ise %91.73 olarak hesaplanmıştır.</a:t>
            </a:r>
          </a:p>
          <a:p>
            <a:pPr>
              <a:lnSpc>
                <a:spcPct val="110000"/>
              </a:lnSpc>
            </a:pPr>
            <a:endParaRPr lang="tr-TR" sz="1500" dirty="0"/>
          </a:p>
          <a:p>
            <a:pPr>
              <a:lnSpc>
                <a:spcPct val="110000"/>
              </a:lnSpc>
            </a:pPr>
            <a:r>
              <a:rPr lang="tr-TR" sz="1500" dirty="0"/>
              <a:t>Gecikme Süresi (</a:t>
            </a:r>
            <a:r>
              <a:rPr lang="tr-TR" sz="1500" dirty="0" err="1"/>
              <a:t>Latency</a:t>
            </a:r>
            <a:r>
              <a:rPr lang="tr-TR" sz="1500" dirty="0"/>
              <a:t>): 175.3 </a:t>
            </a:r>
            <a:r>
              <a:rPr lang="tr-TR" sz="1500" dirty="0" err="1"/>
              <a:t>ms</a:t>
            </a:r>
            <a:endParaRPr lang="tr-TR" sz="1500" dirty="0"/>
          </a:p>
        </p:txBody>
      </p:sp>
    </p:spTree>
    <p:extLst>
      <p:ext uri="{BB962C8B-B14F-4D97-AF65-F5344CB8AC3E}">
        <p14:creationId xmlns:p14="http://schemas.microsoft.com/office/powerpoint/2010/main" val="221547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E35213-5EC8-3451-D167-77D3FD04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tr-TR" dirty="0"/>
              <a:t>Sonuçlar</a:t>
            </a:r>
          </a:p>
        </p:txBody>
      </p:sp>
      <p:sp>
        <p:nvSpPr>
          <p:cNvPr id="11" name="İçerik Yer Tutucusu 2">
            <a:extLst>
              <a:ext uri="{FF2B5EF4-FFF2-40B4-BE49-F238E27FC236}">
                <a16:creationId xmlns:a16="http://schemas.microsoft.com/office/drawing/2014/main" id="{1557E3D4-4C1E-ACE1-CF5C-5E5D74AB001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tr-TR"/>
              <a:t>Başarılı benzer ürün önerileri</a:t>
            </a:r>
          </a:p>
          <a:p>
            <a:endParaRPr lang="tr-TR"/>
          </a:p>
          <a:p>
            <a:r>
              <a:rPr lang="tr-TR"/>
              <a:t> Gerçek zamanlı çalışma</a:t>
            </a:r>
          </a:p>
          <a:p>
            <a:endParaRPr lang="tr-TR"/>
          </a:p>
          <a:p>
            <a:r>
              <a:rPr lang="tr-TR"/>
              <a:t>Kombin önerileri oluşturma</a:t>
            </a:r>
          </a:p>
          <a:p>
            <a:endParaRPr lang="tr-TR"/>
          </a:p>
          <a:p>
            <a:r>
              <a:rPr lang="tr-TR"/>
              <a:t>Çok kriterli puanlama sistemi</a:t>
            </a:r>
          </a:p>
          <a:p>
            <a:endParaRPr lang="tr-TR"/>
          </a:p>
        </p:txBody>
      </p:sp>
      <p:pic>
        <p:nvPicPr>
          <p:cNvPr id="5" name="Picture 4" descr="Verimlilik öğeleri bulunan masa">
            <a:extLst>
              <a:ext uri="{FF2B5EF4-FFF2-40B4-BE49-F238E27FC236}">
                <a16:creationId xmlns:a16="http://schemas.microsoft.com/office/drawing/2014/main" id="{64FF440E-B016-663A-ADD8-3558B60A9C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85" r="2038" b="1"/>
          <a:stretch>
            <a:fillRect/>
          </a:stretch>
        </p:blipFill>
        <p:spPr>
          <a:xfrm>
            <a:off x="20" y="10"/>
            <a:ext cx="7734280" cy="639914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54330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90D4AC-8944-D746-9903-4E809C36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tr-TR" sz="2700"/>
              <a:t>Gelecekte Yapılacak Çalışmalar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D9704E7-DFF6-1163-0F20-2B6489DD7F7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500"/>
              <a:t>Mobil uygulama versiyonunun geliştirilmesi.</a:t>
            </a:r>
          </a:p>
          <a:p>
            <a:pPr>
              <a:lnSpc>
                <a:spcPct val="110000"/>
              </a:lnSpc>
            </a:pPr>
            <a:endParaRPr lang="tr-TR" sz="1500"/>
          </a:p>
          <a:p>
            <a:pPr>
              <a:lnSpc>
                <a:spcPct val="110000"/>
              </a:lnSpc>
            </a:pPr>
            <a:r>
              <a:rPr lang="tr-TR" sz="1500"/>
              <a:t>Kişiselleştirme: Kullanıcının geçmiş tercihleri, favorileri ve arama geçmişine göre kişiselleştirilmiş öneriler sunulması.</a:t>
            </a:r>
          </a:p>
          <a:p>
            <a:pPr>
              <a:lnSpc>
                <a:spcPct val="110000"/>
              </a:lnSpc>
            </a:pPr>
            <a:endParaRPr lang="tr-TR" sz="1500"/>
          </a:p>
          <a:p>
            <a:pPr>
              <a:lnSpc>
                <a:spcPct val="110000"/>
              </a:lnSpc>
            </a:pPr>
            <a:r>
              <a:rPr lang="tr-TR" sz="1500"/>
              <a:t>Kullanıcı Geri Bildirim Mekanizması: Kullanıcının beğendiği veya beğenmediği önerilere göre sistemin kendini iyileştirmesi.</a:t>
            </a:r>
          </a:p>
          <a:p>
            <a:pPr>
              <a:lnSpc>
                <a:spcPct val="110000"/>
              </a:lnSpc>
            </a:pPr>
            <a:endParaRPr lang="tr-TR" sz="1500"/>
          </a:p>
          <a:p>
            <a:pPr>
              <a:lnSpc>
                <a:spcPct val="110000"/>
              </a:lnSpc>
            </a:pPr>
            <a:r>
              <a:rPr lang="tr-TR" sz="1500"/>
              <a:t>Çoklu Ürün Kombinasyonu: Tek ürün yerine birden fazla ürün yüklenerek tam kombin oluşturulması.</a:t>
            </a:r>
          </a:p>
          <a:p>
            <a:pPr>
              <a:lnSpc>
                <a:spcPct val="110000"/>
              </a:lnSpc>
            </a:pPr>
            <a:endParaRPr lang="tr-TR" sz="1500"/>
          </a:p>
          <a:p>
            <a:pPr>
              <a:lnSpc>
                <a:spcPct val="110000"/>
              </a:lnSpc>
            </a:pPr>
            <a:endParaRPr lang="tr-TR" sz="1500"/>
          </a:p>
        </p:txBody>
      </p:sp>
      <p:pic>
        <p:nvPicPr>
          <p:cNvPr id="5" name="Picture 4" descr="Boş telefon seyretmek için kişi">
            <a:extLst>
              <a:ext uri="{FF2B5EF4-FFF2-40B4-BE49-F238E27FC236}">
                <a16:creationId xmlns:a16="http://schemas.microsoft.com/office/drawing/2014/main" id="{940F03BF-D677-B28C-3C79-47383B5E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02" r="45" b="1"/>
          <a:stretch>
            <a:fillRect/>
          </a:stretch>
        </p:blipFill>
        <p:spPr>
          <a:xfrm>
            <a:off x="20" y="10"/>
            <a:ext cx="6591280" cy="639914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545662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3A2EA1-8681-4AF3-DA14-1FDA4D0AC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1"/>
            <a:ext cx="9440034" cy="1490120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F45F5CB-C57F-E3F9-3D62-86DC58FDD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https://github.com/talhadmrl/Tez</a:t>
            </a:r>
            <a:endParaRPr lang="tr-TR" dirty="0"/>
          </a:p>
          <a:p>
            <a:r>
              <a:rPr lang="tr-TR" dirty="0"/>
              <a:t>Talha Demirel </a:t>
            </a:r>
          </a:p>
        </p:txBody>
      </p:sp>
    </p:spTree>
    <p:extLst>
      <p:ext uri="{BB962C8B-B14F-4D97-AF65-F5344CB8AC3E}">
        <p14:creationId xmlns:p14="http://schemas.microsoft.com/office/powerpoint/2010/main" val="410383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urşun Rengi">
  <a:themeElements>
    <a:clrScheme name="Kurşun Rengi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Kurşun Rengi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urşun Rengi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TM04033929[[fn=Kurşun Rengi]]</Template>
  <TotalTime>201</TotalTime>
  <Words>543</Words>
  <Application>Microsoft Office PowerPoint</Application>
  <PresentationFormat>Geniş ekran</PresentationFormat>
  <Paragraphs>91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Calisto MT</vt:lpstr>
      <vt:lpstr>Cambria Math</vt:lpstr>
      <vt:lpstr>Wingdings 2</vt:lpstr>
      <vt:lpstr>Kurşun Rengi</vt:lpstr>
      <vt:lpstr>Moda Ürünleri için Görsel Arama ve Kombin Öneri Sistemi </vt:lpstr>
      <vt:lpstr>Problem tanımı</vt:lpstr>
      <vt:lpstr>Projenin amacı</vt:lpstr>
      <vt:lpstr>Kullanılan teknolojiler</vt:lpstr>
      <vt:lpstr>Veri seti</vt:lpstr>
      <vt:lpstr>Sistemin Çalışma Mantığı</vt:lpstr>
      <vt:lpstr>Benzer Ürün Arama    </vt:lpstr>
      <vt:lpstr>Kombin Öneri Sistemi</vt:lpstr>
      <vt:lpstr>Sezgisel Puanlama Denklemi</vt:lpstr>
      <vt:lpstr>Başarı Metrikleri</vt:lpstr>
      <vt:lpstr>Sonuçlar</vt:lpstr>
      <vt:lpstr>Gelecekte Yapılacak Çalışmalar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Demirel</dc:creator>
  <cp:lastModifiedBy>Talha Demirel</cp:lastModifiedBy>
  <cp:revision>2</cp:revision>
  <dcterms:created xsi:type="dcterms:W3CDTF">2026-06-18T17:48:25Z</dcterms:created>
  <dcterms:modified xsi:type="dcterms:W3CDTF">2026-06-18T21:19:31Z</dcterms:modified>
</cp:coreProperties>
</file>